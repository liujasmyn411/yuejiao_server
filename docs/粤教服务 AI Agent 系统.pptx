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6256000" cy="9144000"/>
  <p:notesSz cx="9144000" cy="16256000"/>
  <p:embeddedFontLst>
    <p:embeddedFont>
      <p:font typeface="Quattrocento Sans" charset="-122" pitchFamily="34"/>
      <p:regular r:id="rId20"/>
    </p:embeddedFont>
    <p:embeddedFont>
      <p:font typeface="Liter" charset="-122" pitchFamily="34"/>
      <p:regular r:id="rId21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font" Target="fonts/font1.fntdata"/><Relationship Id="rId21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gradFill rotWithShape="1" flip="none">
          <a:gsLst>
            <a:gs pos="0">
              <a:srgbClr val="152D48"/>
            </a:gs>
            <a:gs pos="50000">
              <a:srgbClr val="1B3A5C"/>
            </a:gs>
            <a:gs pos="100000">
              <a:srgbClr val="244A70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2476500"/>
            <a:ext cx="2540000" cy="0"/>
          </a:xfrm>
          <a:prstGeom prst="straightConnector1">
            <a:avLst/>
          </a:prstGeom>
          <a:noFill/>
          <a:ln w="25400">
            <a:solidFill>
              <a:srgbClr val="C27A2F"/>
            </a:solidFill>
            <a:prstDash val="solid"/>
            <a:headEnd type="none"/>
            <a:tailEnd type="none"/>
          </a:ln>
        </p:spPr>
      </p:sp>
      <p:sp>
        <p:nvSpPr>
          <p:cNvPr id="3" name="Text 1"/>
          <p:cNvSpPr/>
          <p:nvPr/>
        </p:nvSpPr>
        <p:spPr>
          <a:xfrm>
            <a:off x="1778000" y="2730500"/>
            <a:ext cx="1270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000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粤教服务 AI Agent 系统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3048000" y="3683000"/>
            <a:ext cx="1016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面向国际教育服务行业的智能助手平台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0" y="4381500"/>
            <a:ext cx="2540000" cy="0"/>
          </a:xfrm>
          <a:prstGeom prst="straightConnector1">
            <a:avLst/>
          </a:prstGeom>
          <a:noFill/>
          <a:ln w="25400">
            <a:solidFill>
              <a:srgbClr val="C27A2F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4318000" y="7112000"/>
            <a:ext cx="762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80000"/>
              </a:lnSpc>
            </a:pPr>
            <a:r>
              <a:rPr lang="en-US" sz="1600" dirty="0">
                <a:solidFill>
                  <a:srgbClr val="FFFFFF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汇报组：帅帅宇宙大王组 · 刘帅</a:t>
            </a:r>
            <a:endParaRPr lang="en-US" sz="1600" dirty="0"/>
          </a:p>
          <a:p>
            <a:pPr algn="ctr">
              <a:lnSpc>
                <a:spcPct val="180000"/>
              </a:lnSpc>
            </a:pPr>
            <a:r>
              <a:rPr lang="en-US" sz="1600" dirty="0">
                <a:solidFill>
                  <a:srgbClr val="FFFFFF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毕业设计答辩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23000" y="6477000"/>
            <a:ext cx="3810000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25098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23000" y="6477000"/>
            <a:ext cx="381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毕业设计答辩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35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400" kern="0" dirty="0">
                <a:solidFill>
                  <a:srgbClr val="6B7B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CONTENTS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1016000"/>
            <a:ext cx="508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1B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汇报提纲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778000"/>
            <a:ext cx="14732000" cy="0"/>
          </a:xfrm>
          <a:prstGeom prst="straightConnector1">
            <a:avLst/>
          </a:prstGeom>
          <a:noFill/>
          <a:ln w="25400">
            <a:solidFill>
              <a:srgbClr val="1B3A5C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762000" y="2286000"/>
            <a:ext cx="3429000" cy="558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16000" y="2540000"/>
            <a:ext cx="2921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5600" dirty="0">
                <a:solidFill>
                  <a:srgbClr val="C27A2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16000" y="3556000"/>
            <a:ext cx="2921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1B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项目背景与痛点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4127500"/>
            <a:ext cx="2921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国际教育服务行业的智能化转型需求与三大核心痛点分析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16000" y="7112000"/>
            <a:ext cx="508000" cy="0"/>
          </a:xfrm>
          <a:prstGeom prst="straightConnector1">
            <a:avLst/>
          </a:prstGeom>
          <a:noFill/>
          <a:ln w="38100">
            <a:solidFill>
              <a:srgbClr val="C27A2F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4533900" y="2286000"/>
            <a:ext cx="3429000" cy="558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87900" y="2540000"/>
            <a:ext cx="2921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5600" dirty="0">
                <a:solidFill>
                  <a:srgbClr val="C27A2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787900" y="3556000"/>
            <a:ext cx="2921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1B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系统架构与技术方案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87900" y="4127500"/>
            <a:ext cx="2921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Agent核心工作流、三大智能体与项目文件结构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787900" y="7112000"/>
            <a:ext cx="508000" cy="0"/>
          </a:xfrm>
          <a:prstGeom prst="straightConnector1">
            <a:avLst/>
          </a:prstGeom>
          <a:noFill/>
          <a:ln w="38100">
            <a:solidFill>
              <a:srgbClr val="C27A2F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8305800" y="2286000"/>
            <a:ext cx="3429000" cy="558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59800" y="2540000"/>
            <a:ext cx="2921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5600" dirty="0">
                <a:solidFill>
                  <a:srgbClr val="C27A2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559800" y="3556000"/>
            <a:ext cx="2921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1B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核心优势与创新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559800" y="4127500"/>
            <a:ext cx="2921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五大核心工作流与技术亮点深度解析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559800" y="7112000"/>
            <a:ext cx="508000" cy="0"/>
          </a:xfrm>
          <a:prstGeom prst="straightConnector1">
            <a:avLst/>
          </a:prstGeom>
          <a:noFill/>
          <a:ln w="38100">
            <a:solidFill>
              <a:srgbClr val="C27A2F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12077700" y="2286000"/>
            <a:ext cx="3429000" cy="558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331700" y="2540000"/>
            <a:ext cx="2921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5600" dirty="0">
                <a:solidFill>
                  <a:srgbClr val="C27A2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331700" y="3556000"/>
            <a:ext cx="2921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1B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商业价值与未来展望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331700" y="4127500"/>
            <a:ext cx="2921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落地场景、商业价值与后续迭代计划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2331700" y="7112000"/>
            <a:ext cx="508000" cy="0"/>
          </a:xfrm>
          <a:prstGeom prst="straightConnector1">
            <a:avLst/>
          </a:prstGeom>
          <a:noFill/>
          <a:ln w="38100">
            <a:solidFill>
              <a:srgbClr val="C27A2F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gradFill rotWithShape="1" flip="none">
          <a:gsLst>
            <a:gs pos="0">
              <a:srgbClr val="152D48"/>
            </a:gs>
            <a:gs pos="50000">
              <a:srgbClr val="1B3A5C"/>
            </a:gs>
            <a:gs pos="100000">
              <a:srgbClr val="244A70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032000"/>
            <a:ext cx="5080000" cy="152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0000" dirty="0">
                <a:solidFill>
                  <a:srgbClr val="FFFFFF">
                    <a:alpha val="8235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3683000"/>
            <a:ext cx="889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spc="3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项目背景与痛点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62000" y="4572000"/>
            <a:ext cx="1270000" cy="0"/>
          </a:xfrm>
          <a:prstGeom prst="straightConnector1">
            <a:avLst/>
          </a:prstGeom>
          <a:noFill/>
          <a:ln w="50800">
            <a:solidFill>
              <a:srgbClr val="C27A2F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762000" y="4826000"/>
            <a:ext cx="762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国际教育服务行业的智能化转型需求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4064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01 项目背景与痛点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079500" y="419100"/>
            <a:ext cx="1905000" cy="0"/>
          </a:xfrm>
          <a:prstGeom prst="straightConnector1">
            <a:avLst/>
          </a:prstGeom>
          <a:noFill/>
          <a:ln w="254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4064000" y="0"/>
            <a:ext cx="4064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70196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02 系统架构与技术方案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28000" y="0"/>
            <a:ext cx="4064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70196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03 核心优势与创新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192000" y="0"/>
            <a:ext cx="4064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70196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04 商业价值与未来展望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62000" y="6604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1B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行业痛点与项目定位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762000" y="1193800"/>
            <a:ext cx="1016000" cy="0"/>
          </a:xfrm>
          <a:prstGeom prst="straightConnector1">
            <a:avLst/>
          </a:prstGeom>
          <a:noFill/>
          <a:ln w="38100">
            <a:solidFill>
              <a:srgbClr val="C27A2F"/>
            </a:solidFill>
            <a:prstDash val="solid"/>
            <a:headEnd type="none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762000" y="14605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C27A2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三大核心痛点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62000" y="1905000"/>
            <a:ext cx="7048500" cy="1841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12825" y="20574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155575" y="44450"/>
                </a:moveTo>
                <a:cubicBezTo>
                  <a:pt x="100707" y="44450"/>
                  <a:pt x="55076" y="84247"/>
                  <a:pt x="46047" y="136614"/>
                </a:cubicBezTo>
                <a:cubicBezTo>
                  <a:pt x="52507" y="134531"/>
                  <a:pt x="59452" y="133350"/>
                  <a:pt x="66675" y="133350"/>
                </a:cubicBezTo>
                <a:lnTo>
                  <a:pt x="77788" y="133350"/>
                </a:lnTo>
                <a:cubicBezTo>
                  <a:pt x="96193" y="133350"/>
                  <a:pt x="111125" y="148282"/>
                  <a:pt x="111125" y="166688"/>
                </a:cubicBezTo>
                <a:lnTo>
                  <a:pt x="111125" y="233363"/>
                </a:lnTo>
                <a:cubicBezTo>
                  <a:pt x="111125" y="251768"/>
                  <a:pt x="96193" y="266700"/>
                  <a:pt x="77788" y="266700"/>
                </a:cubicBezTo>
                <a:lnTo>
                  <a:pt x="66675" y="266700"/>
                </a:lnTo>
                <a:cubicBezTo>
                  <a:pt x="29865" y="266700"/>
                  <a:pt x="0" y="236835"/>
                  <a:pt x="0" y="200025"/>
                </a:cubicBezTo>
                <a:lnTo>
                  <a:pt x="0" y="155575"/>
                </a:lnTo>
                <a:cubicBezTo>
                  <a:pt x="0" y="69661"/>
                  <a:pt x="69661" y="0"/>
                  <a:pt x="155575" y="0"/>
                </a:cubicBezTo>
                <a:cubicBezTo>
                  <a:pt x="241489" y="0"/>
                  <a:pt x="311150" y="69661"/>
                  <a:pt x="311150" y="155575"/>
                </a:cubicBezTo>
                <a:lnTo>
                  <a:pt x="311150" y="272326"/>
                </a:lnTo>
                <a:cubicBezTo>
                  <a:pt x="311150" y="318373"/>
                  <a:pt x="273784" y="355669"/>
                  <a:pt x="227737" y="355669"/>
                </a:cubicBezTo>
                <a:lnTo>
                  <a:pt x="166688" y="355600"/>
                </a:lnTo>
                <a:lnTo>
                  <a:pt x="144462" y="355600"/>
                </a:lnTo>
                <a:cubicBezTo>
                  <a:pt x="126057" y="355600"/>
                  <a:pt x="111125" y="340668"/>
                  <a:pt x="111125" y="322263"/>
                </a:cubicBezTo>
                <a:cubicBezTo>
                  <a:pt x="111125" y="303857"/>
                  <a:pt x="126057" y="288925"/>
                  <a:pt x="144462" y="288925"/>
                </a:cubicBezTo>
                <a:lnTo>
                  <a:pt x="166688" y="288925"/>
                </a:lnTo>
                <a:cubicBezTo>
                  <a:pt x="185093" y="288925"/>
                  <a:pt x="200025" y="303857"/>
                  <a:pt x="200025" y="322263"/>
                </a:cubicBezTo>
                <a:lnTo>
                  <a:pt x="200025" y="322263"/>
                </a:lnTo>
                <a:lnTo>
                  <a:pt x="227806" y="322263"/>
                </a:lnTo>
                <a:cubicBezTo>
                  <a:pt x="255449" y="322263"/>
                  <a:pt x="277813" y="299899"/>
                  <a:pt x="277813" y="272256"/>
                </a:cubicBezTo>
                <a:lnTo>
                  <a:pt x="277813" y="257741"/>
                </a:lnTo>
                <a:cubicBezTo>
                  <a:pt x="268020" y="263436"/>
                  <a:pt x="256629" y="266631"/>
                  <a:pt x="244475" y="266631"/>
                </a:cubicBezTo>
                <a:lnTo>
                  <a:pt x="233363" y="266631"/>
                </a:lnTo>
                <a:cubicBezTo>
                  <a:pt x="214957" y="266631"/>
                  <a:pt x="200025" y="251698"/>
                  <a:pt x="200025" y="233293"/>
                </a:cubicBezTo>
                <a:lnTo>
                  <a:pt x="200025" y="166618"/>
                </a:lnTo>
                <a:cubicBezTo>
                  <a:pt x="200025" y="148213"/>
                  <a:pt x="214957" y="133281"/>
                  <a:pt x="233363" y="133281"/>
                </a:cubicBezTo>
                <a:lnTo>
                  <a:pt x="244475" y="133281"/>
                </a:lnTo>
                <a:cubicBezTo>
                  <a:pt x="251698" y="133281"/>
                  <a:pt x="258574" y="134392"/>
                  <a:pt x="265103" y="136545"/>
                </a:cubicBezTo>
                <a:cubicBezTo>
                  <a:pt x="256074" y="84247"/>
                  <a:pt x="210512" y="44381"/>
                  <a:pt x="155575" y="44381"/>
                </a:cubicBezTo>
                <a:close/>
              </a:path>
            </a:pathLst>
          </a:custGeom>
          <a:solidFill>
            <a:srgbClr val="C27A2F"/>
          </a:solidFill>
          <a:ln/>
        </p:spPr>
      </p:sp>
      <p:sp>
        <p:nvSpPr>
          <p:cNvPr id="13" name="Text 11"/>
          <p:cNvSpPr/>
          <p:nvPr/>
        </p:nvSpPr>
        <p:spPr>
          <a:xfrm>
            <a:off x="1473200" y="2032000"/>
            <a:ext cx="609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外部获客：人工客服成本高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90600" y="2476500"/>
            <a:ext cx="6604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7×24小时客服接待依赖大量人工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留学政策/项目咨询重复性问题占比超70%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潜在客户画像研判依赖经验，转化率低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62000" y="3873500"/>
            <a:ext cx="7048500" cy="1841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35050" y="40259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44450" y="0"/>
                </a:moveTo>
                <a:cubicBezTo>
                  <a:pt x="19933" y="0"/>
                  <a:pt x="0" y="19933"/>
                  <a:pt x="0" y="44450"/>
                </a:cubicBezTo>
                <a:lnTo>
                  <a:pt x="0" y="311150"/>
                </a:lnTo>
                <a:cubicBezTo>
                  <a:pt x="0" y="335667"/>
                  <a:pt x="19933" y="355600"/>
                  <a:pt x="44450" y="355600"/>
                </a:cubicBezTo>
                <a:lnTo>
                  <a:pt x="222250" y="355600"/>
                </a:lnTo>
                <a:cubicBezTo>
                  <a:pt x="246767" y="355600"/>
                  <a:pt x="266700" y="335667"/>
                  <a:pt x="266700" y="311150"/>
                </a:cubicBezTo>
                <a:lnTo>
                  <a:pt x="266700" y="44450"/>
                </a:lnTo>
                <a:cubicBezTo>
                  <a:pt x="266700" y="19933"/>
                  <a:pt x="246767" y="0"/>
                  <a:pt x="222250" y="0"/>
                </a:cubicBezTo>
                <a:lnTo>
                  <a:pt x="44450" y="0"/>
                </a:lnTo>
                <a:close/>
                <a:moveTo>
                  <a:pt x="122238" y="244475"/>
                </a:moveTo>
                <a:lnTo>
                  <a:pt x="144463" y="244475"/>
                </a:lnTo>
                <a:cubicBezTo>
                  <a:pt x="156756" y="244475"/>
                  <a:pt x="166688" y="254407"/>
                  <a:pt x="166688" y="266700"/>
                </a:cubicBezTo>
                <a:lnTo>
                  <a:pt x="166688" y="322263"/>
                </a:lnTo>
                <a:lnTo>
                  <a:pt x="100013" y="322263"/>
                </a:lnTo>
                <a:lnTo>
                  <a:pt x="100013" y="266700"/>
                </a:lnTo>
                <a:cubicBezTo>
                  <a:pt x="100013" y="254407"/>
                  <a:pt x="109944" y="244475"/>
                  <a:pt x="122238" y="244475"/>
                </a:cubicBezTo>
                <a:close/>
                <a:moveTo>
                  <a:pt x="66675" y="77788"/>
                </a:moveTo>
                <a:cubicBezTo>
                  <a:pt x="66675" y="71676"/>
                  <a:pt x="71676" y="66675"/>
                  <a:pt x="77788" y="66675"/>
                </a:cubicBezTo>
                <a:lnTo>
                  <a:pt x="100013" y="66675"/>
                </a:lnTo>
                <a:cubicBezTo>
                  <a:pt x="106124" y="66675"/>
                  <a:pt x="111125" y="71676"/>
                  <a:pt x="111125" y="77788"/>
                </a:cubicBezTo>
                <a:lnTo>
                  <a:pt x="111125" y="100013"/>
                </a:lnTo>
                <a:cubicBezTo>
                  <a:pt x="111125" y="106124"/>
                  <a:pt x="106124" y="111125"/>
                  <a:pt x="100013" y="111125"/>
                </a:cubicBezTo>
                <a:lnTo>
                  <a:pt x="77788" y="111125"/>
                </a:lnTo>
                <a:cubicBezTo>
                  <a:pt x="71676" y="111125"/>
                  <a:pt x="66675" y="106124"/>
                  <a:pt x="66675" y="100013"/>
                </a:cubicBezTo>
                <a:lnTo>
                  <a:pt x="66675" y="77788"/>
                </a:lnTo>
                <a:close/>
                <a:moveTo>
                  <a:pt x="166688" y="66675"/>
                </a:moveTo>
                <a:lnTo>
                  <a:pt x="188913" y="66675"/>
                </a:lnTo>
                <a:cubicBezTo>
                  <a:pt x="195024" y="66675"/>
                  <a:pt x="200025" y="71676"/>
                  <a:pt x="200025" y="77788"/>
                </a:cubicBezTo>
                <a:lnTo>
                  <a:pt x="200025" y="100013"/>
                </a:lnTo>
                <a:cubicBezTo>
                  <a:pt x="200025" y="106124"/>
                  <a:pt x="195024" y="111125"/>
                  <a:pt x="188913" y="111125"/>
                </a:cubicBezTo>
                <a:lnTo>
                  <a:pt x="166688" y="111125"/>
                </a:lnTo>
                <a:cubicBezTo>
                  <a:pt x="160576" y="111125"/>
                  <a:pt x="155575" y="106124"/>
                  <a:pt x="155575" y="100013"/>
                </a:cubicBezTo>
                <a:lnTo>
                  <a:pt x="155575" y="77788"/>
                </a:lnTo>
                <a:cubicBezTo>
                  <a:pt x="155575" y="71676"/>
                  <a:pt x="160576" y="66675"/>
                  <a:pt x="166688" y="66675"/>
                </a:cubicBezTo>
                <a:close/>
                <a:moveTo>
                  <a:pt x="66675" y="166688"/>
                </a:moveTo>
                <a:cubicBezTo>
                  <a:pt x="66675" y="160576"/>
                  <a:pt x="71676" y="155575"/>
                  <a:pt x="77788" y="155575"/>
                </a:cubicBezTo>
                <a:lnTo>
                  <a:pt x="100013" y="155575"/>
                </a:lnTo>
                <a:cubicBezTo>
                  <a:pt x="106124" y="155575"/>
                  <a:pt x="111125" y="160576"/>
                  <a:pt x="111125" y="166688"/>
                </a:cubicBezTo>
                <a:lnTo>
                  <a:pt x="111125" y="188913"/>
                </a:lnTo>
                <a:cubicBezTo>
                  <a:pt x="111125" y="195024"/>
                  <a:pt x="106124" y="200025"/>
                  <a:pt x="100013" y="200025"/>
                </a:cubicBezTo>
                <a:lnTo>
                  <a:pt x="77788" y="200025"/>
                </a:lnTo>
                <a:cubicBezTo>
                  <a:pt x="71676" y="200025"/>
                  <a:pt x="66675" y="195024"/>
                  <a:pt x="66675" y="188913"/>
                </a:cubicBezTo>
                <a:lnTo>
                  <a:pt x="66675" y="166688"/>
                </a:lnTo>
                <a:close/>
                <a:moveTo>
                  <a:pt x="166688" y="155575"/>
                </a:moveTo>
                <a:lnTo>
                  <a:pt x="188913" y="155575"/>
                </a:lnTo>
                <a:cubicBezTo>
                  <a:pt x="195024" y="155575"/>
                  <a:pt x="200025" y="160576"/>
                  <a:pt x="200025" y="166688"/>
                </a:cubicBezTo>
                <a:lnTo>
                  <a:pt x="200025" y="188913"/>
                </a:lnTo>
                <a:cubicBezTo>
                  <a:pt x="200025" y="195024"/>
                  <a:pt x="195024" y="200025"/>
                  <a:pt x="188913" y="200025"/>
                </a:cubicBezTo>
                <a:lnTo>
                  <a:pt x="166688" y="200025"/>
                </a:lnTo>
                <a:cubicBezTo>
                  <a:pt x="160576" y="200025"/>
                  <a:pt x="155575" y="195024"/>
                  <a:pt x="155575" y="188913"/>
                </a:cubicBezTo>
                <a:lnTo>
                  <a:pt x="155575" y="166688"/>
                </a:lnTo>
                <a:cubicBezTo>
                  <a:pt x="155575" y="160576"/>
                  <a:pt x="160576" y="155575"/>
                  <a:pt x="166688" y="155575"/>
                </a:cubicBezTo>
                <a:close/>
              </a:path>
            </a:pathLst>
          </a:custGeom>
          <a:solidFill>
            <a:srgbClr val="C27A2F"/>
          </a:solidFill>
          <a:ln/>
        </p:spPr>
      </p:sp>
      <p:sp>
        <p:nvSpPr>
          <p:cNvPr id="17" name="Text 15"/>
          <p:cNvSpPr/>
          <p:nvPr/>
        </p:nvSpPr>
        <p:spPr>
          <a:xfrm>
            <a:off x="1473200" y="4000500"/>
            <a:ext cx="609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内部运营：流程分散效率低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90600" y="4445000"/>
            <a:ext cx="6604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CRM管理/日报/审批分散在不同系统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数据查询依赖技术人员，决策周期长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新人培训成本高，知识沉淀困难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62000" y="5842000"/>
            <a:ext cx="7048500" cy="1841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8375" y="59944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33337" y="135989"/>
                </a:moveTo>
                <a:lnTo>
                  <a:pt x="178633" y="195788"/>
                </a:lnTo>
                <a:cubicBezTo>
                  <a:pt x="185440" y="198566"/>
                  <a:pt x="192663" y="200025"/>
                  <a:pt x="200025" y="200025"/>
                </a:cubicBezTo>
                <a:cubicBezTo>
                  <a:pt x="207387" y="200025"/>
                  <a:pt x="214610" y="198566"/>
                  <a:pt x="221417" y="195788"/>
                </a:cubicBezTo>
                <a:lnTo>
                  <a:pt x="389771" y="126474"/>
                </a:lnTo>
                <a:cubicBezTo>
                  <a:pt x="396022" y="123904"/>
                  <a:pt x="400050" y="117862"/>
                  <a:pt x="400050" y="111125"/>
                </a:cubicBezTo>
                <a:cubicBezTo>
                  <a:pt x="400050" y="104388"/>
                  <a:pt x="396022" y="98346"/>
                  <a:pt x="389771" y="95776"/>
                </a:cubicBezTo>
                <a:lnTo>
                  <a:pt x="221417" y="26462"/>
                </a:lnTo>
                <a:cubicBezTo>
                  <a:pt x="214610" y="23684"/>
                  <a:pt x="207387" y="22225"/>
                  <a:pt x="200025" y="22225"/>
                </a:cubicBezTo>
                <a:cubicBezTo>
                  <a:pt x="192663" y="22225"/>
                  <a:pt x="185440" y="23684"/>
                  <a:pt x="178633" y="26462"/>
                </a:cubicBezTo>
                <a:lnTo>
                  <a:pt x="10279" y="95776"/>
                </a:lnTo>
                <a:cubicBezTo>
                  <a:pt x="4028" y="98346"/>
                  <a:pt x="0" y="104388"/>
                  <a:pt x="0" y="111125"/>
                </a:cubicBezTo>
                <a:lnTo>
                  <a:pt x="0" y="316706"/>
                </a:lnTo>
                <a:cubicBezTo>
                  <a:pt x="0" y="325944"/>
                  <a:pt x="7431" y="333375"/>
                  <a:pt x="16669" y="333375"/>
                </a:cubicBezTo>
                <a:cubicBezTo>
                  <a:pt x="25906" y="333375"/>
                  <a:pt x="33337" y="325944"/>
                  <a:pt x="33337" y="316706"/>
                </a:cubicBezTo>
                <a:lnTo>
                  <a:pt x="33337" y="135989"/>
                </a:lnTo>
                <a:close/>
                <a:moveTo>
                  <a:pt x="66675" y="185787"/>
                </a:moveTo>
                <a:lnTo>
                  <a:pt x="66675" y="266700"/>
                </a:lnTo>
                <a:cubicBezTo>
                  <a:pt x="66675" y="303510"/>
                  <a:pt x="126405" y="333375"/>
                  <a:pt x="200025" y="333375"/>
                </a:cubicBezTo>
                <a:cubicBezTo>
                  <a:pt x="273645" y="333375"/>
                  <a:pt x="333375" y="303510"/>
                  <a:pt x="333375" y="266700"/>
                </a:cubicBezTo>
                <a:lnTo>
                  <a:pt x="333375" y="185718"/>
                </a:lnTo>
                <a:lnTo>
                  <a:pt x="234126" y="226626"/>
                </a:lnTo>
                <a:cubicBezTo>
                  <a:pt x="223292" y="231071"/>
                  <a:pt x="211763" y="233362"/>
                  <a:pt x="200025" y="233362"/>
                </a:cubicBezTo>
                <a:cubicBezTo>
                  <a:pt x="188287" y="233362"/>
                  <a:pt x="176758" y="231071"/>
                  <a:pt x="165924" y="226626"/>
                </a:cubicBezTo>
                <a:lnTo>
                  <a:pt x="66675" y="185718"/>
                </a:lnTo>
                <a:close/>
              </a:path>
            </a:pathLst>
          </a:custGeom>
          <a:solidFill>
            <a:srgbClr val="C27A2F"/>
          </a:solidFill>
          <a:ln/>
        </p:spPr>
      </p:sp>
      <p:sp>
        <p:nvSpPr>
          <p:cNvPr id="21" name="Text 19"/>
          <p:cNvSpPr/>
          <p:nvPr/>
        </p:nvSpPr>
        <p:spPr>
          <a:xfrm>
            <a:off x="1473200" y="5969000"/>
            <a:ext cx="609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学生服务：缺乏全周期管理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90600" y="6413500"/>
            <a:ext cx="6604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心理风险难以及时发现和干预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教务/留学进度追踪依赖人工提醒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投诉反馈处理流程不透明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382000" y="14605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C27A2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项目定位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382000" y="1905000"/>
            <a:ext cx="7112000" cy="57785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5" name="Text 23"/>
          <p:cNvSpPr/>
          <p:nvPr/>
        </p:nvSpPr>
        <p:spPr>
          <a:xfrm>
            <a:off x="8763000" y="2159000"/>
            <a:ext cx="635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粤教服务 AI Agent 平台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763000" y="2692400"/>
            <a:ext cx="762000" cy="0"/>
          </a:xfrm>
          <a:prstGeom prst="straightConnector1">
            <a:avLst/>
          </a:prstGeom>
          <a:noFill/>
          <a:ln w="25400">
            <a:solidFill>
              <a:srgbClr val="C27A2F"/>
            </a:solidFill>
            <a:prstDash val="solid"/>
            <a:headEnd type="none"/>
            <a:tailEnd type="none"/>
          </a:ln>
        </p:spPr>
      </p:sp>
      <p:sp>
        <p:nvSpPr>
          <p:cNvPr id="27" name="Text 25"/>
          <p:cNvSpPr/>
          <p:nvPr/>
        </p:nvSpPr>
        <p:spPr>
          <a:xfrm>
            <a:off x="8763000" y="2857500"/>
            <a:ext cx="635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构建覆盖三大场景的智能助手平台，实现从"人工驱动"到"智能驱动"的转型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724900" y="3937000"/>
            <a:ext cx="381000" cy="304800"/>
          </a:xfrm>
          <a:custGeom>
            <a:avLst/>
            <a:gdLst/>
            <a:ahLst/>
            <a:cxnLst/>
            <a:rect l="l" t="t" r="r" b="b"/>
            <a:pathLst>
              <a:path w="381000" h="304800">
                <a:moveTo>
                  <a:pt x="209550" y="0"/>
                </a:moveTo>
                <a:cubicBezTo>
                  <a:pt x="209550" y="-10537"/>
                  <a:pt x="201037" y="-19050"/>
                  <a:pt x="190500" y="-19050"/>
                </a:cubicBezTo>
                <a:cubicBezTo>
                  <a:pt x="179963" y="-19050"/>
                  <a:pt x="171450" y="-10537"/>
                  <a:pt x="171450" y="0"/>
                </a:cubicBezTo>
                <a:lnTo>
                  <a:pt x="171450" y="38100"/>
                </a:lnTo>
                <a:lnTo>
                  <a:pt x="114300" y="38100"/>
                </a:lnTo>
                <a:cubicBezTo>
                  <a:pt x="82748" y="38100"/>
                  <a:pt x="57150" y="63698"/>
                  <a:pt x="57150" y="95250"/>
                </a:cubicBezTo>
                <a:lnTo>
                  <a:pt x="57150" y="228600"/>
                </a:lnTo>
                <a:cubicBezTo>
                  <a:pt x="57150" y="260152"/>
                  <a:pt x="82748" y="285750"/>
                  <a:pt x="114300" y="285750"/>
                </a:cubicBezTo>
                <a:lnTo>
                  <a:pt x="266700" y="285750"/>
                </a:lnTo>
                <a:cubicBezTo>
                  <a:pt x="298252" y="285750"/>
                  <a:pt x="323850" y="260152"/>
                  <a:pt x="323850" y="228600"/>
                </a:cubicBezTo>
                <a:lnTo>
                  <a:pt x="323850" y="95250"/>
                </a:lnTo>
                <a:cubicBezTo>
                  <a:pt x="323850" y="63698"/>
                  <a:pt x="298252" y="38100"/>
                  <a:pt x="266700" y="38100"/>
                </a:cubicBezTo>
                <a:lnTo>
                  <a:pt x="209550" y="38100"/>
                </a:lnTo>
                <a:lnTo>
                  <a:pt x="209550" y="0"/>
                </a:lnTo>
                <a:close/>
                <a:moveTo>
                  <a:pt x="95250" y="219075"/>
                </a:moveTo>
                <a:cubicBezTo>
                  <a:pt x="95250" y="211157"/>
                  <a:pt x="101620" y="204787"/>
                  <a:pt x="109537" y="204787"/>
                </a:cubicBezTo>
                <a:lnTo>
                  <a:pt x="128588" y="204787"/>
                </a:lnTo>
                <a:cubicBezTo>
                  <a:pt x="136505" y="204787"/>
                  <a:pt x="142875" y="211157"/>
                  <a:pt x="142875" y="219075"/>
                </a:cubicBezTo>
                <a:cubicBezTo>
                  <a:pt x="142875" y="226993"/>
                  <a:pt x="136505" y="233363"/>
                  <a:pt x="128588" y="233363"/>
                </a:cubicBezTo>
                <a:lnTo>
                  <a:pt x="109537" y="233363"/>
                </a:lnTo>
                <a:cubicBezTo>
                  <a:pt x="101620" y="233363"/>
                  <a:pt x="95250" y="226993"/>
                  <a:pt x="95250" y="219075"/>
                </a:cubicBezTo>
                <a:close/>
                <a:moveTo>
                  <a:pt x="166688" y="219075"/>
                </a:moveTo>
                <a:cubicBezTo>
                  <a:pt x="166688" y="211157"/>
                  <a:pt x="173057" y="204787"/>
                  <a:pt x="180975" y="204787"/>
                </a:cubicBezTo>
                <a:lnTo>
                  <a:pt x="200025" y="204787"/>
                </a:lnTo>
                <a:cubicBezTo>
                  <a:pt x="207943" y="204787"/>
                  <a:pt x="214313" y="211157"/>
                  <a:pt x="214313" y="219075"/>
                </a:cubicBezTo>
                <a:cubicBezTo>
                  <a:pt x="214313" y="226993"/>
                  <a:pt x="207943" y="233363"/>
                  <a:pt x="200025" y="233363"/>
                </a:cubicBezTo>
                <a:lnTo>
                  <a:pt x="180975" y="233363"/>
                </a:lnTo>
                <a:cubicBezTo>
                  <a:pt x="173057" y="233363"/>
                  <a:pt x="166688" y="226993"/>
                  <a:pt x="166688" y="219075"/>
                </a:cubicBezTo>
                <a:close/>
                <a:moveTo>
                  <a:pt x="238125" y="219075"/>
                </a:moveTo>
                <a:cubicBezTo>
                  <a:pt x="238125" y="211157"/>
                  <a:pt x="244495" y="204787"/>
                  <a:pt x="252413" y="204787"/>
                </a:cubicBezTo>
                <a:lnTo>
                  <a:pt x="271463" y="204787"/>
                </a:lnTo>
                <a:cubicBezTo>
                  <a:pt x="279380" y="204787"/>
                  <a:pt x="285750" y="211157"/>
                  <a:pt x="285750" y="219075"/>
                </a:cubicBezTo>
                <a:cubicBezTo>
                  <a:pt x="285750" y="226993"/>
                  <a:pt x="279380" y="233363"/>
                  <a:pt x="271463" y="233363"/>
                </a:cubicBezTo>
                <a:lnTo>
                  <a:pt x="252413" y="233363"/>
                </a:lnTo>
                <a:cubicBezTo>
                  <a:pt x="244495" y="233363"/>
                  <a:pt x="238125" y="226993"/>
                  <a:pt x="238125" y="219075"/>
                </a:cubicBezTo>
                <a:close/>
                <a:moveTo>
                  <a:pt x="133350" y="104775"/>
                </a:moveTo>
                <a:cubicBezTo>
                  <a:pt x="149121" y="104775"/>
                  <a:pt x="161925" y="117579"/>
                  <a:pt x="161925" y="133350"/>
                </a:cubicBezTo>
                <a:cubicBezTo>
                  <a:pt x="161925" y="149121"/>
                  <a:pt x="149121" y="161925"/>
                  <a:pt x="133350" y="161925"/>
                </a:cubicBezTo>
                <a:cubicBezTo>
                  <a:pt x="117579" y="161925"/>
                  <a:pt x="104775" y="149121"/>
                  <a:pt x="104775" y="133350"/>
                </a:cubicBezTo>
                <a:cubicBezTo>
                  <a:pt x="104775" y="117579"/>
                  <a:pt x="117579" y="104775"/>
                  <a:pt x="133350" y="104775"/>
                </a:cubicBezTo>
                <a:close/>
                <a:moveTo>
                  <a:pt x="219075" y="133350"/>
                </a:moveTo>
                <a:cubicBezTo>
                  <a:pt x="219075" y="117579"/>
                  <a:pt x="231879" y="104775"/>
                  <a:pt x="247650" y="104775"/>
                </a:cubicBezTo>
                <a:cubicBezTo>
                  <a:pt x="263421" y="104775"/>
                  <a:pt x="276225" y="117579"/>
                  <a:pt x="276225" y="133350"/>
                </a:cubicBezTo>
                <a:cubicBezTo>
                  <a:pt x="276225" y="149121"/>
                  <a:pt x="263421" y="161925"/>
                  <a:pt x="247650" y="161925"/>
                </a:cubicBezTo>
                <a:cubicBezTo>
                  <a:pt x="231879" y="161925"/>
                  <a:pt x="219075" y="149121"/>
                  <a:pt x="219075" y="133350"/>
                </a:cubicBezTo>
                <a:close/>
                <a:moveTo>
                  <a:pt x="38100" y="133350"/>
                </a:moveTo>
                <a:cubicBezTo>
                  <a:pt x="38100" y="122813"/>
                  <a:pt x="29587" y="114300"/>
                  <a:pt x="19050" y="114300"/>
                </a:cubicBezTo>
                <a:cubicBezTo>
                  <a:pt x="8513" y="114300"/>
                  <a:pt x="0" y="122813"/>
                  <a:pt x="0" y="133350"/>
                </a:cubicBezTo>
                <a:lnTo>
                  <a:pt x="0" y="190500"/>
                </a:lnTo>
                <a:cubicBezTo>
                  <a:pt x="0" y="201037"/>
                  <a:pt x="8513" y="209550"/>
                  <a:pt x="19050" y="209550"/>
                </a:cubicBezTo>
                <a:cubicBezTo>
                  <a:pt x="29587" y="209550"/>
                  <a:pt x="38100" y="201037"/>
                  <a:pt x="38100" y="190500"/>
                </a:cubicBezTo>
                <a:lnTo>
                  <a:pt x="38100" y="133350"/>
                </a:lnTo>
                <a:close/>
                <a:moveTo>
                  <a:pt x="361950" y="114300"/>
                </a:moveTo>
                <a:cubicBezTo>
                  <a:pt x="351413" y="114300"/>
                  <a:pt x="342900" y="122813"/>
                  <a:pt x="342900" y="133350"/>
                </a:cubicBezTo>
                <a:lnTo>
                  <a:pt x="342900" y="190500"/>
                </a:lnTo>
                <a:cubicBezTo>
                  <a:pt x="342900" y="201037"/>
                  <a:pt x="351413" y="209550"/>
                  <a:pt x="361950" y="209550"/>
                </a:cubicBezTo>
                <a:cubicBezTo>
                  <a:pt x="372487" y="209550"/>
                  <a:pt x="381000" y="201037"/>
                  <a:pt x="381000" y="190500"/>
                </a:cubicBezTo>
                <a:lnTo>
                  <a:pt x="381000" y="133350"/>
                </a:lnTo>
                <a:cubicBezTo>
                  <a:pt x="381000" y="122813"/>
                  <a:pt x="372487" y="114300"/>
                  <a:pt x="361950" y="114300"/>
                </a:cubicBezTo>
                <a:close/>
              </a:path>
            </a:pathLst>
          </a:custGeom>
          <a:solidFill>
            <a:srgbClr val="C27A2F"/>
          </a:solidFill>
          <a:ln/>
        </p:spPr>
      </p:sp>
      <p:sp>
        <p:nvSpPr>
          <p:cNvPr id="29" name="Text 27"/>
          <p:cNvSpPr/>
          <p:nvPr/>
        </p:nvSpPr>
        <p:spPr>
          <a:xfrm>
            <a:off x="9194800" y="39116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客服 Agent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194800" y="4292600"/>
            <a:ext cx="59182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7×24智能接待、项目推荐、画像研判、活动报名、FAQ解答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763000" y="5080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19062" y="28575"/>
                </a:moveTo>
                <a:lnTo>
                  <a:pt x="185738" y="28575"/>
                </a:lnTo>
                <a:cubicBezTo>
                  <a:pt x="188357" y="28575"/>
                  <a:pt x="190500" y="30718"/>
                  <a:pt x="190500" y="33338"/>
                </a:cubicBezTo>
                <a:lnTo>
                  <a:pt x="190500" y="57150"/>
                </a:lnTo>
                <a:lnTo>
                  <a:pt x="114300" y="57150"/>
                </a:lnTo>
                <a:lnTo>
                  <a:pt x="114300" y="33338"/>
                </a:lnTo>
                <a:cubicBezTo>
                  <a:pt x="114300" y="30718"/>
                  <a:pt x="116443" y="28575"/>
                  <a:pt x="119062" y="28575"/>
                </a:cubicBezTo>
                <a:close/>
                <a:moveTo>
                  <a:pt x="85725" y="33338"/>
                </a:moveTo>
                <a:lnTo>
                  <a:pt x="85725" y="57150"/>
                </a:lnTo>
                <a:lnTo>
                  <a:pt x="38100" y="57150"/>
                </a:lnTo>
                <a:cubicBezTo>
                  <a:pt x="17085" y="57150"/>
                  <a:pt x="0" y="74235"/>
                  <a:pt x="0" y="95250"/>
                </a:cubicBezTo>
                <a:lnTo>
                  <a:pt x="0" y="152400"/>
                </a:lnTo>
                <a:lnTo>
                  <a:pt x="304800" y="152400"/>
                </a:lnTo>
                <a:lnTo>
                  <a:pt x="304800" y="95250"/>
                </a:lnTo>
                <a:cubicBezTo>
                  <a:pt x="304800" y="74235"/>
                  <a:pt x="287715" y="57150"/>
                  <a:pt x="266700" y="57150"/>
                </a:cubicBezTo>
                <a:lnTo>
                  <a:pt x="219075" y="57150"/>
                </a:lnTo>
                <a:lnTo>
                  <a:pt x="219075" y="33338"/>
                </a:lnTo>
                <a:cubicBezTo>
                  <a:pt x="219075" y="14942"/>
                  <a:pt x="204133" y="0"/>
                  <a:pt x="185738" y="0"/>
                </a:cubicBezTo>
                <a:lnTo>
                  <a:pt x="119062" y="0"/>
                </a:lnTo>
                <a:cubicBezTo>
                  <a:pt x="100667" y="0"/>
                  <a:pt x="85725" y="14942"/>
                  <a:pt x="85725" y="33338"/>
                </a:cubicBezTo>
                <a:close/>
                <a:moveTo>
                  <a:pt x="304800" y="180975"/>
                </a:moveTo>
                <a:lnTo>
                  <a:pt x="190500" y="180975"/>
                </a:lnTo>
                <a:lnTo>
                  <a:pt x="190500" y="190500"/>
                </a:lnTo>
                <a:cubicBezTo>
                  <a:pt x="190500" y="201037"/>
                  <a:pt x="181987" y="209550"/>
                  <a:pt x="171450" y="209550"/>
                </a:cubicBezTo>
                <a:lnTo>
                  <a:pt x="133350" y="209550"/>
                </a:lnTo>
                <a:cubicBezTo>
                  <a:pt x="122813" y="209550"/>
                  <a:pt x="114300" y="201037"/>
                  <a:pt x="114300" y="190500"/>
                </a:cubicBezTo>
                <a:lnTo>
                  <a:pt x="114300" y="180975"/>
                </a:lnTo>
                <a:lnTo>
                  <a:pt x="0" y="180975"/>
                </a:lnTo>
                <a:lnTo>
                  <a:pt x="0" y="247650"/>
                </a:lnTo>
                <a:cubicBezTo>
                  <a:pt x="0" y="268665"/>
                  <a:pt x="17085" y="285750"/>
                  <a:pt x="38100" y="285750"/>
                </a:cubicBezTo>
                <a:lnTo>
                  <a:pt x="266700" y="285750"/>
                </a:lnTo>
                <a:cubicBezTo>
                  <a:pt x="287715" y="285750"/>
                  <a:pt x="304800" y="268665"/>
                  <a:pt x="304800" y="247650"/>
                </a:cubicBezTo>
                <a:lnTo>
                  <a:pt x="304800" y="180975"/>
                </a:lnTo>
                <a:close/>
              </a:path>
            </a:pathLst>
          </a:custGeom>
          <a:solidFill>
            <a:srgbClr val="C27A2F"/>
          </a:solidFill>
          <a:ln/>
        </p:spPr>
      </p:sp>
      <p:sp>
        <p:nvSpPr>
          <p:cNvPr id="32" name="Text 30"/>
          <p:cNvSpPr/>
          <p:nvPr/>
        </p:nvSpPr>
        <p:spPr>
          <a:xfrm>
            <a:off x="9194800" y="50546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企业智能助手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194800" y="5435600"/>
            <a:ext cx="59182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CRM管理、日报生成、NL2SQL查询、AI审批、仪表盘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782050" y="62230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143649" y="-7739"/>
                </a:moveTo>
                <a:cubicBezTo>
                  <a:pt x="136862" y="-9108"/>
                  <a:pt x="129897" y="-9108"/>
                  <a:pt x="123111" y="-7739"/>
                </a:cubicBezTo>
                <a:lnTo>
                  <a:pt x="11490" y="14585"/>
                </a:lnTo>
                <a:cubicBezTo>
                  <a:pt x="4822" y="15895"/>
                  <a:pt x="0" y="21788"/>
                  <a:pt x="0" y="28575"/>
                </a:cubicBezTo>
                <a:cubicBezTo>
                  <a:pt x="0" y="34707"/>
                  <a:pt x="3870" y="40065"/>
                  <a:pt x="9525" y="42029"/>
                </a:cubicBezTo>
                <a:lnTo>
                  <a:pt x="9525" y="85725"/>
                </a:lnTo>
                <a:lnTo>
                  <a:pt x="179" y="132517"/>
                </a:lnTo>
                <a:cubicBezTo>
                  <a:pt x="60" y="133052"/>
                  <a:pt x="0" y="133648"/>
                  <a:pt x="0" y="134243"/>
                </a:cubicBezTo>
                <a:cubicBezTo>
                  <a:pt x="0" y="139005"/>
                  <a:pt x="3870" y="142935"/>
                  <a:pt x="8692" y="142935"/>
                </a:cubicBezTo>
                <a:lnTo>
                  <a:pt x="29468" y="142935"/>
                </a:lnTo>
                <a:cubicBezTo>
                  <a:pt x="34230" y="142935"/>
                  <a:pt x="38160" y="139065"/>
                  <a:pt x="38160" y="134243"/>
                </a:cubicBezTo>
                <a:cubicBezTo>
                  <a:pt x="38160" y="133648"/>
                  <a:pt x="38100" y="133112"/>
                  <a:pt x="37981" y="132517"/>
                </a:cubicBezTo>
                <a:lnTo>
                  <a:pt x="28575" y="85725"/>
                </a:lnTo>
                <a:lnTo>
                  <a:pt x="28575" y="46018"/>
                </a:lnTo>
                <a:lnTo>
                  <a:pt x="57150" y="51733"/>
                </a:lnTo>
                <a:lnTo>
                  <a:pt x="57150" y="85725"/>
                </a:lnTo>
                <a:cubicBezTo>
                  <a:pt x="57150" y="127814"/>
                  <a:pt x="91261" y="161925"/>
                  <a:pt x="133350" y="161925"/>
                </a:cubicBezTo>
                <a:cubicBezTo>
                  <a:pt x="175439" y="161925"/>
                  <a:pt x="209550" y="127814"/>
                  <a:pt x="209550" y="85725"/>
                </a:cubicBezTo>
                <a:lnTo>
                  <a:pt x="209550" y="51733"/>
                </a:lnTo>
                <a:lnTo>
                  <a:pt x="255210" y="42624"/>
                </a:lnTo>
                <a:cubicBezTo>
                  <a:pt x="261878" y="41255"/>
                  <a:pt x="266700" y="35362"/>
                  <a:pt x="266700" y="28575"/>
                </a:cubicBezTo>
                <a:cubicBezTo>
                  <a:pt x="266700" y="21788"/>
                  <a:pt x="261878" y="15895"/>
                  <a:pt x="255210" y="14585"/>
                </a:cubicBezTo>
                <a:lnTo>
                  <a:pt x="143649" y="-7739"/>
                </a:lnTo>
                <a:close/>
                <a:moveTo>
                  <a:pt x="133350" y="133350"/>
                </a:moveTo>
                <a:cubicBezTo>
                  <a:pt x="107037" y="133350"/>
                  <a:pt x="85725" y="112038"/>
                  <a:pt x="85725" y="85725"/>
                </a:cubicBezTo>
                <a:lnTo>
                  <a:pt x="180975" y="85725"/>
                </a:lnTo>
                <a:cubicBezTo>
                  <a:pt x="180975" y="112038"/>
                  <a:pt x="159663" y="133350"/>
                  <a:pt x="133350" y="133350"/>
                </a:cubicBezTo>
                <a:close/>
                <a:moveTo>
                  <a:pt x="71497" y="190560"/>
                </a:moveTo>
                <a:cubicBezTo>
                  <a:pt x="34945" y="207347"/>
                  <a:pt x="9525" y="244257"/>
                  <a:pt x="9525" y="287119"/>
                </a:cubicBezTo>
                <a:cubicBezTo>
                  <a:pt x="9525" y="296882"/>
                  <a:pt x="17443" y="304800"/>
                  <a:pt x="27206" y="304800"/>
                </a:cubicBezTo>
                <a:lnTo>
                  <a:pt x="119062" y="304800"/>
                </a:lnTo>
                <a:lnTo>
                  <a:pt x="119062" y="217884"/>
                </a:lnTo>
                <a:lnTo>
                  <a:pt x="84892" y="192286"/>
                </a:lnTo>
                <a:cubicBezTo>
                  <a:pt x="81022" y="189369"/>
                  <a:pt x="75843" y="188595"/>
                  <a:pt x="71438" y="190619"/>
                </a:cubicBezTo>
                <a:close/>
                <a:moveTo>
                  <a:pt x="147638" y="304800"/>
                </a:moveTo>
                <a:lnTo>
                  <a:pt x="239494" y="304800"/>
                </a:lnTo>
                <a:cubicBezTo>
                  <a:pt x="249257" y="304800"/>
                  <a:pt x="257175" y="296882"/>
                  <a:pt x="257175" y="287119"/>
                </a:cubicBezTo>
                <a:cubicBezTo>
                  <a:pt x="257175" y="244257"/>
                  <a:pt x="231755" y="207347"/>
                  <a:pt x="195203" y="190619"/>
                </a:cubicBezTo>
                <a:cubicBezTo>
                  <a:pt x="190798" y="188595"/>
                  <a:pt x="185618" y="189369"/>
                  <a:pt x="181749" y="192286"/>
                </a:cubicBezTo>
                <a:lnTo>
                  <a:pt x="147578" y="217884"/>
                </a:lnTo>
                <a:lnTo>
                  <a:pt x="147578" y="304800"/>
                </a:lnTo>
                <a:close/>
              </a:path>
            </a:pathLst>
          </a:custGeom>
          <a:solidFill>
            <a:srgbClr val="C27A2F"/>
          </a:solidFill>
          <a:ln/>
        </p:spPr>
      </p:sp>
      <p:sp>
        <p:nvSpPr>
          <p:cNvPr id="35" name="Text 33"/>
          <p:cNvSpPr/>
          <p:nvPr/>
        </p:nvSpPr>
        <p:spPr>
          <a:xfrm>
            <a:off x="9194800" y="61976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学生智能助手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9194800" y="6578600"/>
            <a:ext cx="59182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请假申请、心理关怀、教务查询、留学追踪、NL2SQL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763000" y="7302500"/>
            <a:ext cx="635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广东省教育服务有限公司 · 省属国有教育服务企业 · 1981年创办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5240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gradFill rotWithShape="1" flip="none">
          <a:gsLst>
            <a:gs pos="0">
              <a:srgbClr val="152D48"/>
            </a:gs>
            <a:gs pos="50000">
              <a:srgbClr val="1B3A5C"/>
            </a:gs>
            <a:gs pos="100000">
              <a:srgbClr val="244A70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032000"/>
            <a:ext cx="5080000" cy="152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0000" dirty="0">
                <a:solidFill>
                  <a:srgbClr val="FFFFFF">
                    <a:alpha val="8235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3683000"/>
            <a:ext cx="1016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spc="3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系统架构与技术方案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62000" y="4572000"/>
            <a:ext cx="1270000" cy="0"/>
          </a:xfrm>
          <a:prstGeom prst="straightConnector1">
            <a:avLst/>
          </a:prstGeom>
          <a:noFill/>
          <a:ln w="50800">
            <a:solidFill>
              <a:srgbClr val="C27A2F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762000" y="4826000"/>
            <a:ext cx="762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分层架构设计与Agent智能体核心原理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4064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70196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01 项目背景与痛点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064000" y="0"/>
            <a:ext cx="4064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02 系统架构与技术方案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143500" y="419100"/>
            <a:ext cx="1905000" cy="0"/>
          </a:xfrm>
          <a:prstGeom prst="straightConnector1">
            <a:avLst/>
          </a:prstGeom>
          <a:noFill/>
          <a:ln w="254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8128000" y="0"/>
            <a:ext cx="4064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70196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03 核心优势与创新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192000" y="0"/>
            <a:ext cx="4064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70196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04 商业价值与未来展望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62000" y="6604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1B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Agent 核心工作流闭环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762000" y="1193800"/>
            <a:ext cx="1016000" cy="0"/>
          </a:xfrm>
          <a:prstGeom prst="straightConnector1">
            <a:avLst/>
          </a:prstGeom>
          <a:noFill/>
          <a:ln w="38100">
            <a:solidFill>
              <a:srgbClr val="C27A2F"/>
            </a:solidFill>
            <a:prstDash val="solid"/>
            <a:headEnd type="none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762000" y="1244600"/>
            <a:ext cx="889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不是简单问答机器人，而是具备任务拆解和工具调用能力的智能体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23000" y="3556000"/>
            <a:ext cx="3810000" cy="1778000"/>
          </a:xfrm>
          <a:prstGeom prst="ellipse">
            <a:avLst/>
          </a:prstGeom>
          <a:solidFill>
            <a:srgbClr val="1B3A5C"/>
          </a:solidFill>
          <a:ln/>
          <a:effectLst>
            <a:outerShdw sx="100000" sy="100000" kx="0" ky="0" algn="bl" rotWithShape="0" blurRad="190500" dist="76200" dir="5400000">
              <a:srgbClr val="1b3a5c">
                <a:alpha val="25098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13500" y="3873500"/>
            <a:ext cx="3429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Agent 核心引擎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733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两级LLM意图分类 + 角色门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540500" y="1714500"/>
            <a:ext cx="3175000" cy="101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C27A2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11950" y="19431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171450" y="19050"/>
                </a:moveTo>
                <a:cubicBezTo>
                  <a:pt x="123349" y="19050"/>
                  <a:pt x="84832" y="40957"/>
                  <a:pt x="56793" y="67032"/>
                </a:cubicBezTo>
                <a:cubicBezTo>
                  <a:pt x="28932" y="92928"/>
                  <a:pt x="10299" y="123825"/>
                  <a:pt x="1429" y="145078"/>
                </a:cubicBezTo>
                <a:cubicBezTo>
                  <a:pt x="-536" y="149781"/>
                  <a:pt x="-536" y="155019"/>
                  <a:pt x="1429" y="159722"/>
                </a:cubicBezTo>
                <a:cubicBezTo>
                  <a:pt x="10299" y="180975"/>
                  <a:pt x="28932" y="211931"/>
                  <a:pt x="56793" y="237768"/>
                </a:cubicBezTo>
                <a:cubicBezTo>
                  <a:pt x="84832" y="263783"/>
                  <a:pt x="123349" y="285750"/>
                  <a:pt x="171450" y="285750"/>
                </a:cubicBezTo>
                <a:cubicBezTo>
                  <a:pt x="219551" y="285750"/>
                  <a:pt x="258068" y="263843"/>
                  <a:pt x="286107" y="237768"/>
                </a:cubicBezTo>
                <a:cubicBezTo>
                  <a:pt x="313968" y="211872"/>
                  <a:pt x="332601" y="180975"/>
                  <a:pt x="341471" y="159722"/>
                </a:cubicBezTo>
                <a:cubicBezTo>
                  <a:pt x="343436" y="155019"/>
                  <a:pt x="343436" y="149781"/>
                  <a:pt x="341471" y="145078"/>
                </a:cubicBezTo>
                <a:cubicBezTo>
                  <a:pt x="332601" y="123825"/>
                  <a:pt x="313968" y="92869"/>
                  <a:pt x="286107" y="67032"/>
                </a:cubicBezTo>
                <a:cubicBezTo>
                  <a:pt x="258068" y="41017"/>
                  <a:pt x="219551" y="19050"/>
                  <a:pt x="171450" y="19050"/>
                </a:cubicBezTo>
                <a:close/>
                <a:moveTo>
                  <a:pt x="85725" y="152400"/>
                </a:moveTo>
                <a:cubicBezTo>
                  <a:pt x="85725" y="105087"/>
                  <a:pt x="124137" y="66675"/>
                  <a:pt x="171450" y="66675"/>
                </a:cubicBezTo>
                <a:cubicBezTo>
                  <a:pt x="218763" y="66675"/>
                  <a:pt x="257175" y="105087"/>
                  <a:pt x="257175" y="152400"/>
                </a:cubicBezTo>
                <a:cubicBezTo>
                  <a:pt x="257175" y="199713"/>
                  <a:pt x="218763" y="238125"/>
                  <a:pt x="171450" y="238125"/>
                </a:cubicBezTo>
                <a:cubicBezTo>
                  <a:pt x="124137" y="238125"/>
                  <a:pt x="85725" y="199713"/>
                  <a:pt x="85725" y="152400"/>
                </a:cubicBezTo>
                <a:close/>
                <a:moveTo>
                  <a:pt x="171450" y="114300"/>
                </a:moveTo>
                <a:cubicBezTo>
                  <a:pt x="171450" y="135315"/>
                  <a:pt x="154365" y="152400"/>
                  <a:pt x="133350" y="152400"/>
                </a:cubicBezTo>
                <a:cubicBezTo>
                  <a:pt x="126504" y="152400"/>
                  <a:pt x="120075" y="150614"/>
                  <a:pt x="114479" y="147399"/>
                </a:cubicBezTo>
                <a:cubicBezTo>
                  <a:pt x="113883" y="153888"/>
                  <a:pt x="114419" y="160556"/>
                  <a:pt x="116205" y="167164"/>
                </a:cubicBezTo>
                <a:cubicBezTo>
                  <a:pt x="124361" y="197644"/>
                  <a:pt x="155734" y="215741"/>
                  <a:pt x="186214" y="207585"/>
                </a:cubicBezTo>
                <a:cubicBezTo>
                  <a:pt x="216694" y="199430"/>
                  <a:pt x="234791" y="168057"/>
                  <a:pt x="226635" y="137577"/>
                </a:cubicBezTo>
                <a:cubicBezTo>
                  <a:pt x="219373" y="110371"/>
                  <a:pt x="193596" y="93047"/>
                  <a:pt x="166449" y="95429"/>
                </a:cubicBezTo>
                <a:cubicBezTo>
                  <a:pt x="169605" y="100965"/>
                  <a:pt x="171450" y="107394"/>
                  <a:pt x="171450" y="114300"/>
                </a:cubicBezTo>
                <a:close/>
              </a:path>
            </a:pathLst>
          </a:custGeom>
          <a:solidFill>
            <a:srgbClr val="C27A2F"/>
          </a:solidFill>
          <a:ln/>
        </p:spPr>
      </p:sp>
      <p:sp>
        <p:nvSpPr>
          <p:cNvPr id="15" name="Text 13"/>
          <p:cNvSpPr/>
          <p:nvPr/>
        </p:nvSpPr>
        <p:spPr>
          <a:xfrm>
            <a:off x="7137400" y="1879600"/>
            <a:ext cx="241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B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感知 Perception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731000" y="2286000"/>
            <a:ext cx="2794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LLM语义理解 + 本地关键词兜底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064500" y="2730500"/>
            <a:ext cx="0" cy="825500"/>
          </a:xfrm>
          <a:prstGeom prst="straightConnector1">
            <a:avLst/>
          </a:prstGeom>
          <a:noFill/>
          <a:ln w="25400">
            <a:solidFill>
              <a:srgbClr val="C27A2F"/>
            </a:solidFill>
            <a:prstDash val="solid"/>
            <a:headEnd type="none"/>
            <a:tailEnd type="arrow"/>
          </a:ln>
        </p:spPr>
      </p:sp>
      <p:sp>
        <p:nvSpPr>
          <p:cNvPr id="18" name="Shape 16"/>
          <p:cNvSpPr/>
          <p:nvPr/>
        </p:nvSpPr>
        <p:spPr>
          <a:xfrm>
            <a:off x="10668000" y="3810000"/>
            <a:ext cx="3175000" cy="101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C27A2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896600" y="4038600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114300" y="-19050"/>
                </a:moveTo>
                <a:cubicBezTo>
                  <a:pt x="177403" y="-19050"/>
                  <a:pt x="228600" y="32147"/>
                  <a:pt x="228600" y="95250"/>
                </a:cubicBezTo>
                <a:lnTo>
                  <a:pt x="228600" y="174724"/>
                </a:lnTo>
                <a:cubicBezTo>
                  <a:pt x="228600" y="184845"/>
                  <a:pt x="224552" y="194489"/>
                  <a:pt x="217468" y="201632"/>
                </a:cubicBezTo>
                <a:lnTo>
                  <a:pt x="190500" y="228600"/>
                </a:lnTo>
                <a:lnTo>
                  <a:pt x="220742" y="258782"/>
                </a:lnTo>
                <a:cubicBezTo>
                  <a:pt x="225802" y="263843"/>
                  <a:pt x="228600" y="270689"/>
                  <a:pt x="228600" y="277832"/>
                </a:cubicBezTo>
                <a:cubicBezTo>
                  <a:pt x="228600" y="292715"/>
                  <a:pt x="216515" y="304740"/>
                  <a:pt x="201692" y="304800"/>
                </a:cubicBezTo>
                <a:lnTo>
                  <a:pt x="26968" y="304800"/>
                </a:lnTo>
                <a:cubicBezTo>
                  <a:pt x="12085" y="304800"/>
                  <a:pt x="60" y="292715"/>
                  <a:pt x="60" y="277832"/>
                </a:cubicBezTo>
                <a:cubicBezTo>
                  <a:pt x="60" y="270689"/>
                  <a:pt x="2917" y="263843"/>
                  <a:pt x="7918" y="258782"/>
                </a:cubicBezTo>
                <a:lnTo>
                  <a:pt x="38100" y="228600"/>
                </a:lnTo>
                <a:lnTo>
                  <a:pt x="38100" y="208002"/>
                </a:lnTo>
                <a:cubicBezTo>
                  <a:pt x="38100" y="196870"/>
                  <a:pt x="42982" y="186333"/>
                  <a:pt x="51375" y="179070"/>
                </a:cubicBezTo>
                <a:lnTo>
                  <a:pt x="104775" y="133350"/>
                </a:lnTo>
                <a:lnTo>
                  <a:pt x="76200" y="133350"/>
                </a:lnTo>
                <a:lnTo>
                  <a:pt x="68997" y="140553"/>
                </a:lnTo>
                <a:cubicBezTo>
                  <a:pt x="61436" y="148114"/>
                  <a:pt x="51137" y="152400"/>
                  <a:pt x="40422" y="152400"/>
                </a:cubicBezTo>
                <a:cubicBezTo>
                  <a:pt x="18098" y="152400"/>
                  <a:pt x="0" y="134302"/>
                  <a:pt x="0" y="111978"/>
                </a:cubicBezTo>
                <a:lnTo>
                  <a:pt x="0" y="106799"/>
                </a:lnTo>
                <a:cubicBezTo>
                  <a:pt x="0" y="93226"/>
                  <a:pt x="4882" y="80070"/>
                  <a:pt x="13752" y="69711"/>
                </a:cubicBezTo>
                <a:lnTo>
                  <a:pt x="57150" y="19050"/>
                </a:lnTo>
                <a:lnTo>
                  <a:pt x="57150" y="0"/>
                </a:lnTo>
                <a:cubicBezTo>
                  <a:pt x="57150" y="-10537"/>
                  <a:pt x="65663" y="-19050"/>
                  <a:pt x="76200" y="-19050"/>
                </a:cubicBezTo>
                <a:lnTo>
                  <a:pt x="114300" y="-19050"/>
                </a:lnTo>
                <a:close/>
                <a:moveTo>
                  <a:pt x="95250" y="42863"/>
                </a:moveTo>
                <a:cubicBezTo>
                  <a:pt x="87365" y="42863"/>
                  <a:pt x="80962" y="49265"/>
                  <a:pt x="80962" y="57150"/>
                </a:cubicBezTo>
                <a:cubicBezTo>
                  <a:pt x="80962" y="65035"/>
                  <a:pt x="87365" y="71438"/>
                  <a:pt x="95250" y="71438"/>
                </a:cubicBezTo>
                <a:cubicBezTo>
                  <a:pt x="103135" y="71438"/>
                  <a:pt x="109537" y="65035"/>
                  <a:pt x="109537" y="57150"/>
                </a:cubicBezTo>
                <a:cubicBezTo>
                  <a:pt x="109537" y="49265"/>
                  <a:pt x="103135" y="42863"/>
                  <a:pt x="95250" y="42863"/>
                </a:cubicBezTo>
                <a:close/>
              </a:path>
            </a:pathLst>
          </a:custGeom>
          <a:solidFill>
            <a:srgbClr val="C27A2F"/>
          </a:solidFill>
          <a:ln/>
        </p:spPr>
      </p:sp>
      <p:sp>
        <p:nvSpPr>
          <p:cNvPr id="20" name="Text 18"/>
          <p:cNvSpPr/>
          <p:nvPr/>
        </p:nvSpPr>
        <p:spPr>
          <a:xfrm>
            <a:off x="11264900" y="3975100"/>
            <a:ext cx="241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B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规划 Planning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858500" y="4381500"/>
            <a:ext cx="2794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角色门权限 + 槽位填充会话管理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0033000" y="4445000"/>
            <a:ext cx="635000" cy="0"/>
          </a:xfrm>
          <a:prstGeom prst="straightConnector1">
            <a:avLst/>
          </a:prstGeom>
          <a:noFill/>
          <a:ln w="25400">
            <a:solidFill>
              <a:srgbClr val="C27A2F"/>
            </a:solidFill>
            <a:prstDash val="solid"/>
            <a:headEnd type="none"/>
            <a:tailEnd type="arrow"/>
          </a:ln>
        </p:spPr>
      </p:sp>
      <p:sp>
        <p:nvSpPr>
          <p:cNvPr id="23" name="Shape 21"/>
          <p:cNvSpPr/>
          <p:nvPr/>
        </p:nvSpPr>
        <p:spPr>
          <a:xfrm>
            <a:off x="9906000" y="6223000"/>
            <a:ext cx="3175000" cy="101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C27A2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115550" y="64516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201692" y="-5894"/>
                </a:moveTo>
                <a:cubicBezTo>
                  <a:pt x="208776" y="-774"/>
                  <a:pt x="211395" y="8513"/>
                  <a:pt x="208181" y="16609"/>
                </a:cubicBezTo>
                <a:lnTo>
                  <a:pt x="161508" y="133350"/>
                </a:lnTo>
                <a:lnTo>
                  <a:pt x="247650" y="133350"/>
                </a:lnTo>
                <a:cubicBezTo>
                  <a:pt x="255687" y="133350"/>
                  <a:pt x="262830" y="138351"/>
                  <a:pt x="265569" y="145911"/>
                </a:cubicBezTo>
                <a:cubicBezTo>
                  <a:pt x="268307" y="153472"/>
                  <a:pt x="265986" y="161925"/>
                  <a:pt x="259854" y="167045"/>
                </a:cubicBezTo>
                <a:lnTo>
                  <a:pt x="88404" y="309920"/>
                </a:lnTo>
                <a:cubicBezTo>
                  <a:pt x="81677" y="315516"/>
                  <a:pt x="72092" y="315813"/>
                  <a:pt x="65008" y="310694"/>
                </a:cubicBezTo>
                <a:cubicBezTo>
                  <a:pt x="57924" y="305574"/>
                  <a:pt x="55305" y="296287"/>
                  <a:pt x="58519" y="288191"/>
                </a:cubicBezTo>
                <a:lnTo>
                  <a:pt x="105192" y="171450"/>
                </a:lnTo>
                <a:lnTo>
                  <a:pt x="19050" y="171450"/>
                </a:lnTo>
                <a:cubicBezTo>
                  <a:pt x="11013" y="171450"/>
                  <a:pt x="3870" y="166449"/>
                  <a:pt x="1131" y="158889"/>
                </a:cubicBezTo>
                <a:cubicBezTo>
                  <a:pt x="-1607" y="151328"/>
                  <a:pt x="714" y="142875"/>
                  <a:pt x="6846" y="137755"/>
                </a:cubicBezTo>
                <a:lnTo>
                  <a:pt x="178296" y="-5120"/>
                </a:lnTo>
                <a:cubicBezTo>
                  <a:pt x="185023" y="-10716"/>
                  <a:pt x="194608" y="-11013"/>
                  <a:pt x="201692" y="-5894"/>
                </a:cubicBezTo>
                <a:close/>
              </a:path>
            </a:pathLst>
          </a:custGeom>
          <a:solidFill>
            <a:srgbClr val="C27A2F"/>
          </a:solidFill>
          <a:ln/>
        </p:spPr>
      </p:sp>
      <p:sp>
        <p:nvSpPr>
          <p:cNvPr id="25" name="Text 23"/>
          <p:cNvSpPr/>
          <p:nvPr/>
        </p:nvSpPr>
        <p:spPr>
          <a:xfrm>
            <a:off x="10502900" y="6388100"/>
            <a:ext cx="241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B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行动 Action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096500" y="6794500"/>
            <a:ext cx="2794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RAG检索 / NL2SQL / 工具调用 / DB操作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1938000" y="4826000"/>
            <a:ext cx="0" cy="1397000"/>
          </a:xfrm>
          <a:prstGeom prst="straightConnector1">
            <a:avLst/>
          </a:prstGeom>
          <a:noFill/>
          <a:ln w="25400">
            <a:solidFill>
              <a:srgbClr val="C27A2F"/>
            </a:solidFill>
            <a:prstDash val="solid"/>
            <a:headEnd type="none"/>
            <a:tailEnd type="arrow"/>
          </a:ln>
        </p:spPr>
      </p:sp>
      <p:sp>
        <p:nvSpPr>
          <p:cNvPr id="28" name="Shape 26"/>
          <p:cNvSpPr/>
          <p:nvPr/>
        </p:nvSpPr>
        <p:spPr>
          <a:xfrm>
            <a:off x="3175000" y="6223000"/>
            <a:ext cx="3175000" cy="101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C27A2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384550" y="64516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266700" y="122515"/>
                </a:moveTo>
                <a:cubicBezTo>
                  <a:pt x="257889" y="128349"/>
                  <a:pt x="247769" y="133052"/>
                  <a:pt x="237232" y="136803"/>
                </a:cubicBezTo>
                <a:cubicBezTo>
                  <a:pt x="209252" y="146804"/>
                  <a:pt x="172522" y="152400"/>
                  <a:pt x="133350" y="152400"/>
                </a:cubicBezTo>
                <a:cubicBezTo>
                  <a:pt x="94178" y="152400"/>
                  <a:pt x="57388" y="146745"/>
                  <a:pt x="29468" y="136803"/>
                </a:cubicBezTo>
                <a:cubicBezTo>
                  <a:pt x="18990" y="133052"/>
                  <a:pt x="8811" y="128349"/>
                  <a:pt x="0" y="122515"/>
                </a:cubicBezTo>
                <a:lnTo>
                  <a:pt x="0" y="171450"/>
                </a:lnTo>
                <a:cubicBezTo>
                  <a:pt x="0" y="197763"/>
                  <a:pt x="59710" y="219075"/>
                  <a:pt x="133350" y="219075"/>
                </a:cubicBezTo>
                <a:cubicBezTo>
                  <a:pt x="206990" y="219075"/>
                  <a:pt x="266700" y="197763"/>
                  <a:pt x="266700" y="171450"/>
                </a:cubicBezTo>
                <a:lnTo>
                  <a:pt x="266700" y="122515"/>
                </a:lnTo>
                <a:close/>
                <a:moveTo>
                  <a:pt x="266700" y="76200"/>
                </a:moveTo>
                <a:lnTo>
                  <a:pt x="266700" y="47625"/>
                </a:lnTo>
                <a:cubicBezTo>
                  <a:pt x="266700" y="21312"/>
                  <a:pt x="206990" y="0"/>
                  <a:pt x="133350" y="0"/>
                </a:cubicBezTo>
                <a:cubicBezTo>
                  <a:pt x="59710" y="0"/>
                  <a:pt x="0" y="21312"/>
                  <a:pt x="0" y="47625"/>
                </a:cubicBezTo>
                <a:lnTo>
                  <a:pt x="0" y="76200"/>
                </a:lnTo>
                <a:cubicBezTo>
                  <a:pt x="0" y="102513"/>
                  <a:pt x="59710" y="123825"/>
                  <a:pt x="133350" y="123825"/>
                </a:cubicBezTo>
                <a:cubicBezTo>
                  <a:pt x="206990" y="123825"/>
                  <a:pt x="266700" y="102513"/>
                  <a:pt x="266700" y="76200"/>
                </a:cubicBezTo>
                <a:close/>
                <a:moveTo>
                  <a:pt x="237232" y="232053"/>
                </a:moveTo>
                <a:cubicBezTo>
                  <a:pt x="209312" y="241995"/>
                  <a:pt x="172581" y="247650"/>
                  <a:pt x="133350" y="247650"/>
                </a:cubicBezTo>
                <a:cubicBezTo>
                  <a:pt x="94119" y="247650"/>
                  <a:pt x="57388" y="241995"/>
                  <a:pt x="29468" y="232053"/>
                </a:cubicBezTo>
                <a:cubicBezTo>
                  <a:pt x="18990" y="228302"/>
                  <a:pt x="8811" y="223599"/>
                  <a:pt x="0" y="217765"/>
                </a:cubicBezTo>
                <a:lnTo>
                  <a:pt x="0" y="257175"/>
                </a:lnTo>
                <a:cubicBezTo>
                  <a:pt x="0" y="283488"/>
                  <a:pt x="59710" y="304800"/>
                  <a:pt x="133350" y="304800"/>
                </a:cubicBezTo>
                <a:cubicBezTo>
                  <a:pt x="206990" y="304800"/>
                  <a:pt x="266700" y="283488"/>
                  <a:pt x="266700" y="257175"/>
                </a:cubicBezTo>
                <a:lnTo>
                  <a:pt x="266700" y="217765"/>
                </a:lnTo>
                <a:cubicBezTo>
                  <a:pt x="257889" y="223599"/>
                  <a:pt x="247769" y="228302"/>
                  <a:pt x="237232" y="232053"/>
                </a:cubicBezTo>
                <a:close/>
              </a:path>
            </a:pathLst>
          </a:custGeom>
          <a:solidFill>
            <a:srgbClr val="C27A2F"/>
          </a:solidFill>
          <a:ln/>
        </p:spPr>
      </p:sp>
      <p:sp>
        <p:nvSpPr>
          <p:cNvPr id="30" name="Text 28"/>
          <p:cNvSpPr/>
          <p:nvPr/>
        </p:nvSpPr>
        <p:spPr>
          <a:xfrm>
            <a:off x="3771900" y="6388100"/>
            <a:ext cx="241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B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记忆 Memory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3365500" y="6794500"/>
            <a:ext cx="2794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会话状态持久化 + 上下文追踪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350000" y="6731000"/>
            <a:ext cx="3556000" cy="0"/>
          </a:xfrm>
          <a:prstGeom prst="straightConnector1">
            <a:avLst/>
          </a:prstGeom>
          <a:noFill/>
          <a:ln w="25400">
            <a:solidFill>
              <a:srgbClr val="C27A2F"/>
            </a:solidFill>
            <a:prstDash val="solid"/>
            <a:headEnd type="none"/>
            <a:tailEnd type="arrow"/>
          </a:ln>
        </p:spPr>
      </p:sp>
      <p:sp>
        <p:nvSpPr>
          <p:cNvPr id="33" name="Shape 31"/>
          <p:cNvSpPr/>
          <p:nvPr/>
        </p:nvSpPr>
        <p:spPr>
          <a:xfrm>
            <a:off x="2413000" y="3810000"/>
            <a:ext cx="3175000" cy="101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C27A2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603500" y="4038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21563" y="10954"/>
                </a:moveTo>
                <a:cubicBezTo>
                  <a:pt x="128707" y="13930"/>
                  <a:pt x="133350" y="20836"/>
                  <a:pt x="133350" y="28575"/>
                </a:cubicBezTo>
                <a:lnTo>
                  <a:pt x="133350" y="76200"/>
                </a:lnTo>
                <a:lnTo>
                  <a:pt x="200025" y="76200"/>
                </a:lnTo>
                <a:cubicBezTo>
                  <a:pt x="257889" y="76200"/>
                  <a:pt x="304800" y="123111"/>
                  <a:pt x="304800" y="180975"/>
                </a:cubicBezTo>
                <a:cubicBezTo>
                  <a:pt x="304800" y="248424"/>
                  <a:pt x="256282" y="278547"/>
                  <a:pt x="245150" y="284619"/>
                </a:cubicBezTo>
                <a:cubicBezTo>
                  <a:pt x="243661" y="285452"/>
                  <a:pt x="241995" y="285750"/>
                  <a:pt x="240328" y="285750"/>
                </a:cubicBezTo>
                <a:cubicBezTo>
                  <a:pt x="233839" y="285750"/>
                  <a:pt x="228600" y="280452"/>
                  <a:pt x="228600" y="274022"/>
                </a:cubicBezTo>
                <a:cubicBezTo>
                  <a:pt x="228600" y="269558"/>
                  <a:pt x="231160" y="265450"/>
                  <a:pt x="234434" y="262414"/>
                </a:cubicBezTo>
                <a:cubicBezTo>
                  <a:pt x="240030" y="257175"/>
                  <a:pt x="247650" y="246698"/>
                  <a:pt x="247650" y="228660"/>
                </a:cubicBezTo>
                <a:cubicBezTo>
                  <a:pt x="247650" y="197108"/>
                  <a:pt x="222052" y="171510"/>
                  <a:pt x="190500" y="171510"/>
                </a:cubicBezTo>
                <a:lnTo>
                  <a:pt x="133350" y="171510"/>
                </a:lnTo>
                <a:lnTo>
                  <a:pt x="133350" y="219135"/>
                </a:lnTo>
                <a:cubicBezTo>
                  <a:pt x="133350" y="226814"/>
                  <a:pt x="128707" y="233779"/>
                  <a:pt x="121563" y="236756"/>
                </a:cubicBezTo>
                <a:cubicBezTo>
                  <a:pt x="114419" y="239732"/>
                  <a:pt x="106263" y="238065"/>
                  <a:pt x="100786" y="232648"/>
                </a:cubicBezTo>
                <a:lnTo>
                  <a:pt x="5536" y="137398"/>
                </a:lnTo>
                <a:cubicBezTo>
                  <a:pt x="-1905" y="129957"/>
                  <a:pt x="-1905" y="117872"/>
                  <a:pt x="5536" y="110430"/>
                </a:cubicBezTo>
                <a:lnTo>
                  <a:pt x="100786" y="15180"/>
                </a:lnTo>
                <a:cubicBezTo>
                  <a:pt x="106263" y="9704"/>
                  <a:pt x="114419" y="8096"/>
                  <a:pt x="121563" y="11073"/>
                </a:cubicBezTo>
                <a:close/>
              </a:path>
            </a:pathLst>
          </a:custGeom>
          <a:solidFill>
            <a:srgbClr val="C27A2F"/>
          </a:solidFill>
          <a:ln/>
        </p:spPr>
      </p:sp>
      <p:sp>
        <p:nvSpPr>
          <p:cNvPr id="35" name="Text 33"/>
          <p:cNvSpPr/>
          <p:nvPr/>
        </p:nvSpPr>
        <p:spPr>
          <a:xfrm>
            <a:off x="3009900" y="3975100"/>
            <a:ext cx="241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B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反馈 Feedback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2603500" y="4381500"/>
            <a:ext cx="2794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结构化响应 + 通知联动 + 报告生成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318000" y="4826000"/>
            <a:ext cx="0" cy="1397000"/>
          </a:xfrm>
          <a:prstGeom prst="straightConnector1">
            <a:avLst/>
          </a:prstGeom>
          <a:noFill/>
          <a:ln w="25400">
            <a:solidFill>
              <a:srgbClr val="C27A2F"/>
            </a:solidFill>
            <a:prstDash val="solid"/>
            <a:headEnd type="none"/>
            <a:tailEnd type="arrow"/>
          </a:ln>
        </p:spPr>
      </p:sp>
      <p:sp>
        <p:nvSpPr>
          <p:cNvPr id="38" name="Shape 36"/>
          <p:cNvSpPr/>
          <p:nvPr/>
        </p:nvSpPr>
        <p:spPr>
          <a:xfrm flipH="1">
            <a:off x="5588000" y="2730500"/>
            <a:ext cx="952500" cy="1079500"/>
          </a:xfrm>
          <a:prstGeom prst="straightConnector1">
            <a:avLst/>
          </a:prstGeom>
          <a:noFill/>
          <a:ln w="25400">
            <a:solidFill>
              <a:srgbClr val="C27A2F"/>
            </a:solidFill>
            <a:prstDash val="solid"/>
            <a:headEnd type="arrow"/>
            <a:tailEnd type="none"/>
          </a:ln>
        </p:spPr>
      </p:sp>
      <p:sp>
        <p:nvSpPr>
          <p:cNvPr id="39" name="Text 37"/>
          <p:cNvSpPr/>
          <p:nvPr/>
        </p:nvSpPr>
        <p:spPr>
          <a:xfrm>
            <a:off x="762000" y="7620000"/>
            <a:ext cx="1473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C27A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核心设计：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统一对话入口 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POST /api/chat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替代外部编排层，实现"LLM优先 + 关键词兜底"双保险机制。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步骤0槽位填充检查 → 步骤1 LLM意图分类 → 步骤2 本地关键词兜底 → 步骤3 角色门权限校验 → 步骤4 Agent内部分发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5240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4064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70196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01 项目背景与痛点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064000" y="0"/>
            <a:ext cx="4064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02 系统架构与技术方案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143500" y="419100"/>
            <a:ext cx="1905000" cy="0"/>
          </a:xfrm>
          <a:prstGeom prst="straightConnector1">
            <a:avLst/>
          </a:prstGeom>
          <a:noFill/>
          <a:ln w="254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8128000" y="0"/>
            <a:ext cx="4064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70196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03 核心优势与创新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192000" y="0"/>
            <a:ext cx="4064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70196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04 商业价值与未来展望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62000" y="6604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1B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三大智能体与统一入口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762000" y="1193800"/>
            <a:ext cx="1016000" cy="0"/>
          </a:xfrm>
          <a:prstGeom prst="straightConnector1">
            <a:avLst/>
          </a:prstGeom>
          <a:noFill/>
          <a:ln w="38100">
            <a:solidFill>
              <a:srgbClr val="C27A2F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762000" y="1460500"/>
            <a:ext cx="4699000" cy="50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2000" y="1460500"/>
            <a:ext cx="4699000" cy="6350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2" name="Shape 10"/>
          <p:cNvSpPr/>
          <p:nvPr/>
        </p:nvSpPr>
        <p:spPr>
          <a:xfrm>
            <a:off x="974725" y="15875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155575" y="44450"/>
                </a:moveTo>
                <a:cubicBezTo>
                  <a:pt x="100707" y="44450"/>
                  <a:pt x="55076" y="84247"/>
                  <a:pt x="46047" y="136614"/>
                </a:cubicBezTo>
                <a:cubicBezTo>
                  <a:pt x="52507" y="134531"/>
                  <a:pt x="59452" y="133350"/>
                  <a:pt x="66675" y="133350"/>
                </a:cubicBezTo>
                <a:lnTo>
                  <a:pt x="77788" y="133350"/>
                </a:lnTo>
                <a:cubicBezTo>
                  <a:pt x="96193" y="133350"/>
                  <a:pt x="111125" y="148282"/>
                  <a:pt x="111125" y="166688"/>
                </a:cubicBezTo>
                <a:lnTo>
                  <a:pt x="111125" y="233363"/>
                </a:lnTo>
                <a:cubicBezTo>
                  <a:pt x="111125" y="251768"/>
                  <a:pt x="96193" y="266700"/>
                  <a:pt x="77788" y="266700"/>
                </a:cubicBezTo>
                <a:lnTo>
                  <a:pt x="66675" y="266700"/>
                </a:lnTo>
                <a:cubicBezTo>
                  <a:pt x="29865" y="266700"/>
                  <a:pt x="0" y="236835"/>
                  <a:pt x="0" y="200025"/>
                </a:cubicBezTo>
                <a:lnTo>
                  <a:pt x="0" y="155575"/>
                </a:lnTo>
                <a:cubicBezTo>
                  <a:pt x="0" y="69661"/>
                  <a:pt x="69661" y="0"/>
                  <a:pt x="155575" y="0"/>
                </a:cubicBezTo>
                <a:cubicBezTo>
                  <a:pt x="241489" y="0"/>
                  <a:pt x="311150" y="69661"/>
                  <a:pt x="311150" y="155575"/>
                </a:cubicBezTo>
                <a:lnTo>
                  <a:pt x="311150" y="272326"/>
                </a:lnTo>
                <a:cubicBezTo>
                  <a:pt x="311150" y="318373"/>
                  <a:pt x="273784" y="355669"/>
                  <a:pt x="227737" y="355669"/>
                </a:cubicBezTo>
                <a:lnTo>
                  <a:pt x="166688" y="355600"/>
                </a:lnTo>
                <a:lnTo>
                  <a:pt x="144462" y="355600"/>
                </a:lnTo>
                <a:cubicBezTo>
                  <a:pt x="126057" y="355600"/>
                  <a:pt x="111125" y="340668"/>
                  <a:pt x="111125" y="322263"/>
                </a:cubicBezTo>
                <a:cubicBezTo>
                  <a:pt x="111125" y="303857"/>
                  <a:pt x="126057" y="288925"/>
                  <a:pt x="144462" y="288925"/>
                </a:cubicBezTo>
                <a:lnTo>
                  <a:pt x="166688" y="288925"/>
                </a:lnTo>
                <a:cubicBezTo>
                  <a:pt x="185093" y="288925"/>
                  <a:pt x="200025" y="303857"/>
                  <a:pt x="200025" y="322263"/>
                </a:cubicBezTo>
                <a:lnTo>
                  <a:pt x="200025" y="322263"/>
                </a:lnTo>
                <a:lnTo>
                  <a:pt x="227806" y="322263"/>
                </a:lnTo>
                <a:cubicBezTo>
                  <a:pt x="255449" y="322263"/>
                  <a:pt x="277813" y="299899"/>
                  <a:pt x="277813" y="272256"/>
                </a:cubicBezTo>
                <a:lnTo>
                  <a:pt x="277813" y="257741"/>
                </a:lnTo>
                <a:cubicBezTo>
                  <a:pt x="268020" y="263436"/>
                  <a:pt x="256629" y="266631"/>
                  <a:pt x="244475" y="266631"/>
                </a:cubicBezTo>
                <a:lnTo>
                  <a:pt x="233363" y="266631"/>
                </a:lnTo>
                <a:cubicBezTo>
                  <a:pt x="214957" y="266631"/>
                  <a:pt x="200025" y="251698"/>
                  <a:pt x="200025" y="233293"/>
                </a:cubicBezTo>
                <a:lnTo>
                  <a:pt x="200025" y="166618"/>
                </a:lnTo>
                <a:cubicBezTo>
                  <a:pt x="200025" y="148213"/>
                  <a:pt x="214957" y="133281"/>
                  <a:pt x="233363" y="133281"/>
                </a:cubicBezTo>
                <a:lnTo>
                  <a:pt x="244475" y="133281"/>
                </a:lnTo>
                <a:cubicBezTo>
                  <a:pt x="251698" y="133281"/>
                  <a:pt x="258574" y="134392"/>
                  <a:pt x="265103" y="136545"/>
                </a:cubicBezTo>
                <a:cubicBezTo>
                  <a:pt x="256074" y="84247"/>
                  <a:pt x="210512" y="44381"/>
                  <a:pt x="155575" y="44381"/>
                </a:cubicBezTo>
                <a:close/>
              </a:path>
            </a:pathLst>
          </a:custGeom>
          <a:solidFill>
            <a:srgbClr val="C27A2F"/>
          </a:solidFill>
          <a:ln/>
        </p:spPr>
      </p:sp>
      <p:sp>
        <p:nvSpPr>
          <p:cNvPr id="13" name="Text 11"/>
          <p:cNvSpPr/>
          <p:nvPr/>
        </p:nvSpPr>
        <p:spPr>
          <a:xfrm>
            <a:off x="1422400" y="1524000"/>
            <a:ext cx="381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客服 Agent</a:t>
            </a:r>
            <a:pPr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667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(对外-访客)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52500" y="2286000"/>
            <a:ext cx="4318000" cy="406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300" b="1" dirty="0">
                <a:solidFill>
                  <a:srgbClr val="C27A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9种意图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3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company_info — 公司信息咨询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3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business_query — 公司业务查询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3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policy_query — 留学政策查询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3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project_recommend — 课程项目推荐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3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event_registration — 活动讲座报名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3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faq — FAQ自助解答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3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profile_match — 客户画像研判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3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feedback — 投诉反馈提交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3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chitchat — 日常闲聊互动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2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7×24小时 · 7个API端点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778500" y="1460500"/>
            <a:ext cx="4699000" cy="50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78500" y="1460500"/>
            <a:ext cx="4699000" cy="6350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7" name="Shape 15"/>
          <p:cNvSpPr/>
          <p:nvPr/>
        </p:nvSpPr>
        <p:spPr>
          <a:xfrm>
            <a:off x="5969000" y="1587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38906" y="33337"/>
                </a:moveTo>
                <a:lnTo>
                  <a:pt x="216694" y="33337"/>
                </a:lnTo>
                <a:cubicBezTo>
                  <a:pt x="219750" y="33337"/>
                  <a:pt x="222250" y="35838"/>
                  <a:pt x="222250" y="38894"/>
                </a:cubicBezTo>
                <a:lnTo>
                  <a:pt x="222250" y="66675"/>
                </a:lnTo>
                <a:lnTo>
                  <a:pt x="133350" y="66675"/>
                </a:lnTo>
                <a:lnTo>
                  <a:pt x="133350" y="38894"/>
                </a:lnTo>
                <a:cubicBezTo>
                  <a:pt x="133350" y="35838"/>
                  <a:pt x="135850" y="33337"/>
                  <a:pt x="138906" y="33337"/>
                </a:cubicBezTo>
                <a:close/>
                <a:moveTo>
                  <a:pt x="100013" y="38894"/>
                </a:moveTo>
                <a:lnTo>
                  <a:pt x="100013" y="66675"/>
                </a:lnTo>
                <a:lnTo>
                  <a:pt x="44450" y="66675"/>
                </a:lnTo>
                <a:cubicBezTo>
                  <a:pt x="19933" y="66675"/>
                  <a:pt x="0" y="86608"/>
                  <a:pt x="0" y="111125"/>
                </a:cubicBezTo>
                <a:lnTo>
                  <a:pt x="0" y="177800"/>
                </a:lnTo>
                <a:lnTo>
                  <a:pt x="355600" y="177800"/>
                </a:lnTo>
                <a:lnTo>
                  <a:pt x="355600" y="111125"/>
                </a:lnTo>
                <a:cubicBezTo>
                  <a:pt x="355600" y="86608"/>
                  <a:pt x="335667" y="66675"/>
                  <a:pt x="311150" y="66675"/>
                </a:cubicBezTo>
                <a:lnTo>
                  <a:pt x="255587" y="66675"/>
                </a:lnTo>
                <a:lnTo>
                  <a:pt x="255587" y="38894"/>
                </a:lnTo>
                <a:cubicBezTo>
                  <a:pt x="255587" y="17433"/>
                  <a:pt x="238155" y="0"/>
                  <a:pt x="216694" y="0"/>
                </a:cubicBezTo>
                <a:lnTo>
                  <a:pt x="138906" y="0"/>
                </a:lnTo>
                <a:cubicBezTo>
                  <a:pt x="117445" y="0"/>
                  <a:pt x="100013" y="17433"/>
                  <a:pt x="100013" y="38894"/>
                </a:cubicBezTo>
                <a:close/>
                <a:moveTo>
                  <a:pt x="355600" y="211138"/>
                </a:moveTo>
                <a:lnTo>
                  <a:pt x="222250" y="211138"/>
                </a:lnTo>
                <a:lnTo>
                  <a:pt x="222250" y="222250"/>
                </a:lnTo>
                <a:cubicBezTo>
                  <a:pt x="222250" y="234543"/>
                  <a:pt x="212318" y="244475"/>
                  <a:pt x="200025" y="244475"/>
                </a:cubicBezTo>
                <a:lnTo>
                  <a:pt x="155575" y="244475"/>
                </a:lnTo>
                <a:cubicBezTo>
                  <a:pt x="143282" y="244475"/>
                  <a:pt x="133350" y="234543"/>
                  <a:pt x="133350" y="222250"/>
                </a:cubicBezTo>
                <a:lnTo>
                  <a:pt x="133350" y="211138"/>
                </a:lnTo>
                <a:lnTo>
                  <a:pt x="0" y="211138"/>
                </a:lnTo>
                <a:lnTo>
                  <a:pt x="0" y="288925"/>
                </a:lnTo>
                <a:cubicBezTo>
                  <a:pt x="0" y="313442"/>
                  <a:pt x="19933" y="333375"/>
                  <a:pt x="44450" y="333375"/>
                </a:cubicBezTo>
                <a:lnTo>
                  <a:pt x="311150" y="333375"/>
                </a:lnTo>
                <a:cubicBezTo>
                  <a:pt x="335667" y="333375"/>
                  <a:pt x="355600" y="313442"/>
                  <a:pt x="355600" y="288925"/>
                </a:cubicBezTo>
                <a:lnTo>
                  <a:pt x="355600" y="211138"/>
                </a:lnTo>
                <a:close/>
              </a:path>
            </a:pathLst>
          </a:custGeom>
          <a:solidFill>
            <a:srgbClr val="C27A2F"/>
          </a:solidFill>
          <a:ln/>
        </p:spPr>
      </p:sp>
      <p:sp>
        <p:nvSpPr>
          <p:cNvPr id="18" name="Text 16"/>
          <p:cNvSpPr/>
          <p:nvPr/>
        </p:nvSpPr>
        <p:spPr>
          <a:xfrm>
            <a:off x="6438900" y="1524000"/>
            <a:ext cx="381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企业智能助手</a:t>
            </a:r>
            <a:pPr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667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(对内-员工)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969000" y="2286000"/>
            <a:ext cx="4318000" cy="406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300" b="1" dirty="0">
                <a:solidFill>
                  <a:srgbClr val="C27A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10种意图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3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lead_create — 意向客户录入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3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lead_query — NL2SQL客户查询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3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lead_profile — 画像研判+自动CRM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3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daily_report — 口述→结构化日报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3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data_query — NL2SQL通用查询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3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approval — AI对话中完成审批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3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company_guide — 新人入职指引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3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dashboard — 仪表盘数据概览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3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lead_update — 客户状态更新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2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工作日 · 12个API端点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0795000" y="1460500"/>
            <a:ext cx="4699000" cy="50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95000" y="1460500"/>
            <a:ext cx="4699000" cy="6350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2" name="Shape 20"/>
          <p:cNvSpPr/>
          <p:nvPr/>
        </p:nvSpPr>
        <p:spPr>
          <a:xfrm>
            <a:off x="11007725" y="15875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167590" y="-9029"/>
                </a:moveTo>
                <a:cubicBezTo>
                  <a:pt x="159673" y="-10626"/>
                  <a:pt x="151547" y="-10626"/>
                  <a:pt x="143629" y="-9029"/>
                </a:cubicBezTo>
                <a:lnTo>
                  <a:pt x="13404" y="17016"/>
                </a:lnTo>
                <a:cubicBezTo>
                  <a:pt x="5626" y="18544"/>
                  <a:pt x="0" y="25420"/>
                  <a:pt x="0" y="33337"/>
                </a:cubicBezTo>
                <a:cubicBezTo>
                  <a:pt x="0" y="40491"/>
                  <a:pt x="4514" y="46742"/>
                  <a:pt x="11112" y="49034"/>
                </a:cubicBezTo>
                <a:lnTo>
                  <a:pt x="11112" y="100013"/>
                </a:lnTo>
                <a:lnTo>
                  <a:pt x="208" y="154603"/>
                </a:lnTo>
                <a:cubicBezTo>
                  <a:pt x="69" y="155228"/>
                  <a:pt x="0" y="155922"/>
                  <a:pt x="0" y="156617"/>
                </a:cubicBezTo>
                <a:cubicBezTo>
                  <a:pt x="0" y="162173"/>
                  <a:pt x="4514" y="166757"/>
                  <a:pt x="10140" y="166757"/>
                </a:cubicBezTo>
                <a:lnTo>
                  <a:pt x="34379" y="166757"/>
                </a:lnTo>
                <a:cubicBezTo>
                  <a:pt x="39936" y="166757"/>
                  <a:pt x="44519" y="162243"/>
                  <a:pt x="44519" y="156617"/>
                </a:cubicBezTo>
                <a:cubicBezTo>
                  <a:pt x="44519" y="155922"/>
                  <a:pt x="44450" y="155297"/>
                  <a:pt x="44311" y="154603"/>
                </a:cubicBezTo>
                <a:lnTo>
                  <a:pt x="33337" y="100013"/>
                </a:lnTo>
                <a:lnTo>
                  <a:pt x="33337" y="53687"/>
                </a:lnTo>
                <a:lnTo>
                  <a:pt x="66675" y="60355"/>
                </a:lnTo>
                <a:lnTo>
                  <a:pt x="66675" y="100013"/>
                </a:lnTo>
                <a:cubicBezTo>
                  <a:pt x="66675" y="149116"/>
                  <a:pt x="106472" y="188913"/>
                  <a:pt x="155575" y="188913"/>
                </a:cubicBezTo>
                <a:cubicBezTo>
                  <a:pt x="204678" y="188913"/>
                  <a:pt x="244475" y="149116"/>
                  <a:pt x="244475" y="100013"/>
                </a:cubicBezTo>
                <a:lnTo>
                  <a:pt x="244475" y="60355"/>
                </a:lnTo>
                <a:lnTo>
                  <a:pt x="297746" y="49728"/>
                </a:lnTo>
                <a:cubicBezTo>
                  <a:pt x="305524" y="48131"/>
                  <a:pt x="311150" y="41255"/>
                  <a:pt x="311150" y="33337"/>
                </a:cubicBezTo>
                <a:cubicBezTo>
                  <a:pt x="311150" y="25420"/>
                  <a:pt x="305524" y="18544"/>
                  <a:pt x="297746" y="17016"/>
                </a:cubicBezTo>
                <a:lnTo>
                  <a:pt x="167590" y="-9029"/>
                </a:lnTo>
                <a:close/>
                <a:moveTo>
                  <a:pt x="155575" y="155575"/>
                </a:moveTo>
                <a:cubicBezTo>
                  <a:pt x="124877" y="155575"/>
                  <a:pt x="100013" y="130711"/>
                  <a:pt x="100013" y="100013"/>
                </a:cubicBezTo>
                <a:lnTo>
                  <a:pt x="211138" y="100013"/>
                </a:lnTo>
                <a:cubicBezTo>
                  <a:pt x="211138" y="130711"/>
                  <a:pt x="186273" y="155575"/>
                  <a:pt x="155575" y="155575"/>
                </a:cubicBezTo>
                <a:close/>
                <a:moveTo>
                  <a:pt x="83413" y="222319"/>
                </a:moveTo>
                <a:cubicBezTo>
                  <a:pt x="40769" y="241905"/>
                  <a:pt x="11112" y="284966"/>
                  <a:pt x="11112" y="334972"/>
                </a:cubicBezTo>
                <a:cubicBezTo>
                  <a:pt x="11112" y="346363"/>
                  <a:pt x="20350" y="355600"/>
                  <a:pt x="31740" y="355600"/>
                </a:cubicBezTo>
                <a:lnTo>
                  <a:pt x="138906" y="355600"/>
                </a:lnTo>
                <a:lnTo>
                  <a:pt x="138906" y="254198"/>
                </a:lnTo>
                <a:lnTo>
                  <a:pt x="99040" y="224334"/>
                </a:lnTo>
                <a:cubicBezTo>
                  <a:pt x="94526" y="220930"/>
                  <a:pt x="88483" y="220028"/>
                  <a:pt x="83344" y="222389"/>
                </a:cubicBezTo>
                <a:close/>
                <a:moveTo>
                  <a:pt x="172244" y="355600"/>
                </a:moveTo>
                <a:lnTo>
                  <a:pt x="279410" y="355600"/>
                </a:lnTo>
                <a:cubicBezTo>
                  <a:pt x="290800" y="355600"/>
                  <a:pt x="300038" y="346363"/>
                  <a:pt x="300038" y="334972"/>
                </a:cubicBezTo>
                <a:cubicBezTo>
                  <a:pt x="300038" y="284966"/>
                  <a:pt x="270381" y="241905"/>
                  <a:pt x="227737" y="222389"/>
                </a:cubicBezTo>
                <a:cubicBezTo>
                  <a:pt x="222597" y="220028"/>
                  <a:pt x="216555" y="220930"/>
                  <a:pt x="212040" y="224334"/>
                </a:cubicBezTo>
                <a:lnTo>
                  <a:pt x="172174" y="254198"/>
                </a:lnTo>
                <a:lnTo>
                  <a:pt x="172174" y="355600"/>
                </a:lnTo>
                <a:close/>
              </a:path>
            </a:pathLst>
          </a:custGeom>
          <a:solidFill>
            <a:srgbClr val="C27A2F"/>
          </a:solidFill>
          <a:ln/>
        </p:spPr>
      </p:sp>
      <p:sp>
        <p:nvSpPr>
          <p:cNvPr id="23" name="Text 21"/>
          <p:cNvSpPr/>
          <p:nvPr/>
        </p:nvSpPr>
        <p:spPr>
          <a:xfrm>
            <a:off x="11455400" y="1524000"/>
            <a:ext cx="381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学生智能助手</a:t>
            </a:r>
            <a:pPr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667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(对内-学生)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985500" y="2286000"/>
            <a:ext cx="4318000" cy="406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300" b="1" dirty="0">
                <a:solidFill>
                  <a:srgbClr val="C27A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8种意图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3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admin_service — 请假申请/查询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3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psych_care — 心理关怀+风险预警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3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feedback — 投诉反馈/工单追踪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3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academic_query — 学业考务查询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3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progress_track — 留学7阶段追踪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3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life_support — 海外生活知识问答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3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upgrade_intent — 升学项目推荐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3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data_query — NL2SQL自查询(限本人)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2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7×24小时 · 13个API端点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62000" y="6794500"/>
            <a:ext cx="14732000" cy="13970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6" name="Text 24"/>
          <p:cNvSpPr/>
          <p:nvPr/>
        </p:nvSpPr>
        <p:spPr>
          <a:xfrm>
            <a:off x="1016000" y="69215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C27A2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统一对话入口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16000" y="7302500"/>
            <a:ext cx="1422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C27A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POST /api/chat</a:t>
            </a:r>
            <a:pPr>
              <a:lnSpc>
                <a:spcPct val="160000"/>
              </a:lnSpc>
            </a:pPr>
            <a:r>
              <a:rPr lang="en-US" sz="13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替代原Dify编排层，实现两级LLM意图分类 + 本地关键词兜底 + 角色门 + 槽位填充会话管理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游客→仅客服Agent | 学生→客服+学生Agent | 员工→客服+企业Agent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5240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4064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70196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01 项目背景与痛点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064000" y="0"/>
            <a:ext cx="4064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02 系统架构与技术方案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143500" y="419100"/>
            <a:ext cx="1905000" cy="0"/>
          </a:xfrm>
          <a:prstGeom prst="straightConnector1">
            <a:avLst/>
          </a:prstGeom>
          <a:noFill/>
          <a:ln w="254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8128000" y="0"/>
            <a:ext cx="4064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70196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03 核心优势与创新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192000" y="0"/>
            <a:ext cx="4064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70196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04 商业价值与未来展望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62000" y="6604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1B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项目文件结构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762000" y="1193800"/>
            <a:ext cx="1016000" cy="0"/>
          </a:xfrm>
          <a:prstGeom prst="straightConnector1">
            <a:avLst/>
          </a:prstGeom>
          <a:noFill/>
          <a:ln w="38100">
            <a:solidFill>
              <a:srgbClr val="C27A2F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762000" y="1422400"/>
            <a:ext cx="7366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2500" y="14986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C27A2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后端架构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52500" y="1905000"/>
            <a:ext cx="6985000" cy="622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5000"/>
              </a:lnSpc>
            </a:pPr>
            <a:r>
              <a:rPr lang="en-US" sz="1200" b="1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yuejiao_agents/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2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├── </a:t>
            </a:r>
            <a:pPr>
              <a:lnSpc>
                <a:spcPct val="155000"/>
              </a:lnSpc>
            </a:pPr>
            <a:r>
              <a:rPr lang="en-US" sz="12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main.py</a:t>
            </a:r>
            <a:pPr>
              <a:lnSpc>
                <a:spcPct val="155000"/>
              </a:lnSpc>
            </a:pPr>
            <a:r>
              <a:rPr lang="en-US" sz="12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55000"/>
              </a:lnSpc>
            </a:pPr>
            <a:r>
              <a:rPr lang="en-US" sz="12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# 应用入口，启动初始化+定时任务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2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├── config.py </a:t>
            </a:r>
            <a:pPr>
              <a:lnSpc>
                <a:spcPct val="155000"/>
              </a:lnSpc>
            </a:pPr>
            <a:r>
              <a:rPr lang="en-US" sz="12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# 全局配置(.env加载)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2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├── database.py </a:t>
            </a:r>
            <a:pPr>
              <a:lnSpc>
                <a:spcPct val="155000"/>
              </a:lnSpc>
            </a:pPr>
            <a:r>
              <a:rPr lang="en-US" sz="12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# SQLAlchemy引擎/Session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2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├── requirements.txt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2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├── </a:t>
            </a:r>
            <a:pPr>
              <a:lnSpc>
                <a:spcPct val="155000"/>
              </a:lnSpc>
            </a:pPr>
            <a:r>
              <a:rPr lang="en-US" sz="1200" b="1" dirty="0">
                <a:solidFill>
                  <a:srgbClr val="C27A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api/</a:t>
            </a:r>
            <a:pPr>
              <a:lnSpc>
                <a:spcPct val="155000"/>
              </a:lnSpc>
            </a:pPr>
            <a:r>
              <a:rPr lang="en-US" sz="12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55000"/>
              </a:lnSpc>
            </a:pPr>
            <a:r>
              <a:rPr lang="en-US" sz="12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# 路由层(6个子路由)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2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│ ├── chat_routes.py </a:t>
            </a:r>
            <a:pPr>
              <a:lnSpc>
                <a:spcPct val="155000"/>
              </a:lnSpc>
            </a:pPr>
            <a:r>
              <a:rPr lang="en-US" sz="12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# 统一对话入口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2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│ ├── customer_routes.py </a:t>
            </a:r>
            <a:pPr>
              <a:lnSpc>
                <a:spcPct val="155000"/>
              </a:lnSpc>
            </a:pPr>
            <a:r>
              <a:rPr lang="en-US" sz="12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# 客服Agent(7端点)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2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│ ├── enterprise_routes.py </a:t>
            </a:r>
            <a:pPr>
              <a:lnSpc>
                <a:spcPct val="155000"/>
              </a:lnSpc>
            </a:pPr>
            <a:r>
              <a:rPr lang="en-US" sz="12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# 企业助手(12端点)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2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│ ├── student_routes.py </a:t>
            </a:r>
            <a:pPr>
              <a:lnSpc>
                <a:spcPct val="155000"/>
              </a:lnSpc>
            </a:pPr>
            <a:r>
              <a:rPr lang="en-US" sz="12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# 学生助手(13端点)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2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│ └── report_routes.py </a:t>
            </a:r>
            <a:pPr>
              <a:lnSpc>
                <a:spcPct val="155000"/>
              </a:lnSpc>
            </a:pPr>
            <a:r>
              <a:rPr lang="en-US" sz="12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# 智能报告(6端点)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2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├── </a:t>
            </a:r>
            <a:pPr>
              <a:lnSpc>
                <a:spcPct val="155000"/>
              </a:lnSpc>
            </a:pPr>
            <a:r>
              <a:rPr lang="en-US" sz="1200" b="1" dirty="0">
                <a:solidFill>
                  <a:srgbClr val="C27A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agents/</a:t>
            </a:r>
            <a:pPr>
              <a:lnSpc>
                <a:spcPct val="155000"/>
              </a:lnSpc>
            </a:pPr>
            <a:r>
              <a:rPr lang="en-US" sz="12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55000"/>
              </a:lnSpc>
            </a:pPr>
            <a:r>
              <a:rPr lang="en-US" sz="12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# 智能体层(3个Agent)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2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│ ├── customer_service/ </a:t>
            </a:r>
            <a:pPr>
              <a:lnSpc>
                <a:spcPct val="155000"/>
              </a:lnSpc>
            </a:pPr>
            <a:r>
              <a:rPr lang="en-US" sz="12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# 9种意图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2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│ ├── enterprise/ </a:t>
            </a:r>
            <a:pPr>
              <a:lnSpc>
                <a:spcPct val="155000"/>
              </a:lnSpc>
            </a:pPr>
            <a:r>
              <a:rPr lang="en-US" sz="12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# 10种意图+NL2SQL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2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│ └── student/ </a:t>
            </a:r>
            <a:pPr>
              <a:lnSpc>
                <a:spcPct val="155000"/>
              </a:lnSpc>
            </a:pPr>
            <a:r>
              <a:rPr lang="en-US" sz="12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# 8种意图+心理监测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2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├── </a:t>
            </a:r>
            <a:pPr>
              <a:lnSpc>
                <a:spcPct val="155000"/>
              </a:lnSpc>
            </a:pPr>
            <a:r>
              <a:rPr lang="en-US" sz="1200" b="1" dirty="0">
                <a:solidFill>
                  <a:srgbClr val="C27A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crud/</a:t>
            </a:r>
            <a:pPr>
              <a:lnSpc>
                <a:spcPct val="155000"/>
              </a:lnSpc>
            </a:pPr>
            <a:r>
              <a:rPr lang="en-US" sz="12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55000"/>
              </a:lnSpc>
            </a:pPr>
            <a:r>
              <a:rPr lang="en-US" sz="12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# 数据访问层(15个CRUD类)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2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├── </a:t>
            </a:r>
            <a:pPr>
              <a:lnSpc>
                <a:spcPct val="155000"/>
              </a:lnSpc>
            </a:pPr>
            <a:r>
              <a:rPr lang="en-US" sz="1200" b="1" dirty="0">
                <a:solidFill>
                  <a:srgbClr val="C27A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model/</a:t>
            </a:r>
            <a:pPr>
              <a:lnSpc>
                <a:spcPct val="155000"/>
              </a:lnSpc>
            </a:pPr>
            <a:r>
              <a:rPr lang="en-US" sz="12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55000"/>
              </a:lnSpc>
            </a:pPr>
            <a:r>
              <a:rPr lang="en-US" sz="12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# ORM模型(15张表)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2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├── </a:t>
            </a:r>
            <a:pPr>
              <a:lnSpc>
                <a:spcPct val="155000"/>
              </a:lnSpc>
            </a:pPr>
            <a:r>
              <a:rPr lang="en-US" sz="1200" b="1" dirty="0">
                <a:solidFill>
                  <a:srgbClr val="C27A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schemas/</a:t>
            </a:r>
            <a:pPr>
              <a:lnSpc>
                <a:spcPct val="155000"/>
              </a:lnSpc>
            </a:pPr>
            <a:r>
              <a:rPr lang="en-US" sz="12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55000"/>
              </a:lnSpc>
            </a:pPr>
            <a:r>
              <a:rPr lang="en-US" sz="12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# Pydantic校验层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2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├── </a:t>
            </a:r>
            <a:pPr>
              <a:lnSpc>
                <a:spcPct val="155000"/>
              </a:lnSpc>
            </a:pPr>
            <a:r>
              <a:rPr lang="en-US" sz="1200" b="1" dirty="0">
                <a:solidFill>
                  <a:srgbClr val="C27A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knowledge_base/</a:t>
            </a:r>
            <a:pPr>
              <a:lnSpc>
                <a:spcPct val="155000"/>
              </a:lnSpc>
            </a:pPr>
            <a:r>
              <a:rPr lang="en-US" sz="12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55000"/>
              </a:lnSpc>
            </a:pPr>
            <a:r>
              <a:rPr lang="en-US" sz="12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# RAG知识库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2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├── </a:t>
            </a:r>
            <a:pPr>
              <a:lnSpc>
                <a:spcPct val="155000"/>
              </a:lnSpc>
            </a:pPr>
            <a:r>
              <a:rPr lang="en-US" sz="1200" b="1" dirty="0">
                <a:solidFill>
                  <a:srgbClr val="C27A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reports/</a:t>
            </a:r>
            <a:pPr>
              <a:lnSpc>
                <a:spcPct val="155000"/>
              </a:lnSpc>
            </a:pPr>
            <a:r>
              <a:rPr lang="en-US" sz="12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55000"/>
              </a:lnSpc>
            </a:pPr>
            <a:r>
              <a:rPr lang="en-US" sz="12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# 智能报告引擎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2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└── </a:t>
            </a:r>
            <a:pPr>
              <a:lnSpc>
                <a:spcPct val="155000"/>
              </a:lnSpc>
            </a:pPr>
            <a:r>
              <a:rPr lang="en-US" sz="1200" b="1" dirty="0">
                <a:solidFill>
                  <a:srgbClr val="C27A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utils/</a:t>
            </a:r>
            <a:pPr>
              <a:lnSpc>
                <a:spcPct val="155000"/>
              </a:lnSpc>
            </a:pPr>
            <a:r>
              <a:rPr lang="en-US" sz="12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55000"/>
              </a:lnSpc>
            </a:pPr>
            <a:r>
              <a:rPr lang="en-US" sz="12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# 工具模块(10+)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382000" y="1422400"/>
            <a:ext cx="711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72500" y="14986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C27A2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前端与测试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572500" y="1905000"/>
            <a:ext cx="6731000" cy="311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200" b="1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static/ + templates/</a:t>
            </a:r>
            <a:pPr>
              <a:lnSpc>
                <a:spcPct val="150000"/>
              </a:lnSpc>
            </a:pPr>
            <a:r>
              <a:rPr lang="en-US" sz="12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2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# 前端SPA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├── css/app.css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├── js/api.js </a:t>
            </a:r>
            <a:pPr>
              <a:lnSpc>
                <a:spcPct val="150000"/>
              </a:lnSpc>
            </a:pPr>
            <a:r>
              <a:rPr lang="en-US" sz="12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# API封装+JWT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├── js/router.js </a:t>
            </a:r>
            <a:pPr>
              <a:lnSpc>
                <a:spcPct val="150000"/>
              </a:lnSpc>
            </a:pPr>
            <a:r>
              <a:rPr lang="en-US" sz="12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# hash路由+角色守卫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├── js/components/ </a:t>
            </a:r>
            <a:pPr>
              <a:lnSpc>
                <a:spcPct val="150000"/>
              </a:lnSpc>
            </a:pPr>
            <a:r>
              <a:rPr lang="en-US" sz="12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# 聊天浮窗/Markdown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└── js/pages/ </a:t>
            </a:r>
            <a:pPr>
              <a:lnSpc>
                <a:spcPct val="150000"/>
              </a:lnSpc>
            </a:pPr>
            <a:r>
              <a:rPr lang="en-US" sz="12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# 20个业务页面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200" b="1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tests/</a:t>
            </a:r>
            <a:pPr>
              <a:lnSpc>
                <a:spcPct val="150000"/>
              </a:lnSpc>
              <a:spcBef>
                <a:spcPts val="400"/>
              </a:spcBef>
            </a:pPr>
            <a:r>
              <a:rPr lang="en-US" sz="12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50000"/>
              </a:lnSpc>
              <a:spcBef>
                <a:spcPts val="400"/>
              </a:spcBef>
            </a:pPr>
            <a:r>
              <a:rPr lang="en-US" sz="12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# 测试套件(100+用例)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├── test_login.py(19) / test_chat.py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├── test_customer.py / test_enterprise.py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└── test_student.py / test_report.py ...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572500" y="5207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C27A2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核心技术栈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572500" y="5613400"/>
            <a:ext cx="6731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2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Web框架</a:t>
            </a:r>
            <a:pPr>
              <a:lnSpc>
                <a:spcPct val="160000"/>
              </a:lnSpc>
            </a:pPr>
            <a:r>
              <a:rPr lang="en-US" sz="12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FastAPI 0.115 + Uvicorn 0.34 | </a:t>
            </a:r>
            <a:pPr>
              <a:lnSpc>
                <a:spcPct val="160000"/>
              </a:lnSpc>
            </a:pPr>
            <a:r>
              <a:rPr lang="en-US" sz="12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ORM</a:t>
            </a:r>
            <a:pPr>
              <a:lnSpc>
                <a:spcPct val="160000"/>
              </a:lnSpc>
            </a:pPr>
            <a:r>
              <a:rPr lang="en-US" sz="12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SQLAlchemy 2.0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2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数据校验</a:t>
            </a:r>
            <a:pPr>
              <a:lnSpc>
                <a:spcPct val="160000"/>
              </a:lnSpc>
            </a:pPr>
            <a:r>
              <a:rPr lang="en-US" sz="12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Pydantic 2.11 | </a:t>
            </a:r>
            <a:pPr>
              <a:lnSpc>
                <a:spcPct val="160000"/>
              </a:lnSpc>
            </a:pPr>
            <a:r>
              <a:rPr lang="en-US" sz="12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认证</a:t>
            </a:r>
            <a:pPr>
              <a:lnSpc>
                <a:spcPct val="160000"/>
              </a:lnSpc>
            </a:pPr>
            <a:r>
              <a:rPr lang="en-US" sz="12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JWT HS256 + bcrypt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2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LLM调用</a:t>
            </a:r>
            <a:pPr>
              <a:lnSpc>
                <a:spcPct val="160000"/>
              </a:lnSpc>
            </a:pPr>
            <a:r>
              <a:rPr lang="en-US" sz="12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OpenAI兼容接口(GPT/DeepSeek/通义千问)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2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RAG检索</a:t>
            </a:r>
            <a:pPr>
              <a:lnSpc>
                <a:spcPct val="160000"/>
              </a:lnSpc>
            </a:pPr>
            <a:r>
              <a:rPr lang="en-US" sz="12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自研n-gram引擎(零外部依赖)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2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定时任务</a:t>
            </a:r>
            <a:pPr>
              <a:lnSpc>
                <a:spcPct val="160000"/>
              </a:lnSpc>
            </a:pPr>
            <a:r>
              <a:rPr lang="en-US" sz="12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APScheduler 3.10 | </a:t>
            </a:r>
            <a:pPr>
              <a:lnSpc>
                <a:spcPct val="160000"/>
              </a:lnSpc>
            </a:pPr>
            <a:r>
              <a:rPr lang="en-US" sz="12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测试</a:t>
            </a:r>
            <a:pPr>
              <a:lnSpc>
                <a:spcPct val="160000"/>
              </a:lnSpc>
            </a:pPr>
            <a:r>
              <a:rPr lang="en-US" sz="12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pytest 8.3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2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前端</a:t>
            </a:r>
            <a:pPr>
              <a:lnSpc>
                <a:spcPct val="160000"/>
              </a:lnSpc>
            </a:pPr>
            <a:r>
              <a:rPr lang="en-US" sz="12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原生JS SPA(无框架依赖,20个页面)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2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数据库</a:t>
            </a:r>
            <a:pPr>
              <a:lnSpc>
                <a:spcPct val="160000"/>
              </a:lnSpc>
            </a:pPr>
            <a:r>
              <a:rPr lang="en-US" sz="12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MySQL/SQLite双模式支持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240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gradFill rotWithShape="1" flip="none">
          <a:gsLst>
            <a:gs pos="0">
              <a:srgbClr val="152D48"/>
            </a:gs>
            <a:gs pos="50000">
              <a:srgbClr val="1B3A5C"/>
            </a:gs>
            <a:gs pos="100000">
              <a:srgbClr val="244A70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032000"/>
            <a:ext cx="5080000" cy="152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0000" dirty="0">
                <a:solidFill>
                  <a:srgbClr val="FFFFFF">
                    <a:alpha val="8235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3683000"/>
            <a:ext cx="889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spc="3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核心优势与创新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62000" y="4572000"/>
            <a:ext cx="1270000" cy="0"/>
          </a:xfrm>
          <a:prstGeom prst="straightConnector1">
            <a:avLst/>
          </a:prstGeom>
          <a:noFill/>
          <a:ln w="50800">
            <a:solidFill>
              <a:srgbClr val="C27A2F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762000" y="4826000"/>
            <a:ext cx="762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五大核心工作流与技术亮点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4064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70196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01 项目背景与痛点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064000" y="0"/>
            <a:ext cx="4064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70196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02 系统架构与技术方案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128000" y="0"/>
            <a:ext cx="4064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03 核心优势与创新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207500" y="419100"/>
            <a:ext cx="1905000" cy="0"/>
          </a:xfrm>
          <a:prstGeom prst="straightConnector1">
            <a:avLst/>
          </a:prstGeom>
          <a:noFill/>
          <a:ln w="254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12192000" y="0"/>
            <a:ext cx="4064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70196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04 商业价值与未来展望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62000" y="6604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1B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五大核心亮点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762000" y="1193800"/>
            <a:ext cx="1016000" cy="0"/>
          </a:xfrm>
          <a:prstGeom prst="straightConnector1">
            <a:avLst/>
          </a:prstGeom>
          <a:noFill/>
          <a:ln w="38100">
            <a:solidFill>
              <a:srgbClr val="C27A2F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762000" y="1460500"/>
            <a:ext cx="4699000" cy="2095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549400"/>
            <a:ext cx="6985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C27A2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651000" y="1549400"/>
            <a:ext cx="36195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B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统一入口+LLM路由+角色门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" y="2006600"/>
            <a:ext cx="43815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统一对话入口替代外部编排层，LLM语义级意图分类+本地关键词兜底双保险，角色门三层权限防护确保数据安全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778500" y="1460500"/>
            <a:ext cx="4699000" cy="2095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30900" y="1549400"/>
            <a:ext cx="6985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C27A2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667500" y="1549400"/>
            <a:ext cx="36195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B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槽位填充+三层逃生机制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930900" y="2006600"/>
            <a:ext cx="43815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多轮对话状态机自动收集必填字段，关键词检测+LLM语义判断+交互次数兜底三层防死循环机制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0795000" y="1460500"/>
            <a:ext cx="4699000" cy="2095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47400" y="1549400"/>
            <a:ext cx="6985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C27A2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684000" y="1549400"/>
            <a:ext cx="36195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B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NL2SQL安全引擎+数据隔离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947400" y="2006600"/>
            <a:ext cx="43815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DML黑名单+表白名单+强制WHERE/LIMIT多层安全校验，学生数据自动注入scope隔离，仅可查询本人数据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62000" y="3810000"/>
            <a:ext cx="7175500" cy="2095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3898900"/>
            <a:ext cx="6985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C27A2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51000" y="3898900"/>
            <a:ext cx="6096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B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心理监测：全消息旁路评估+自动预警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14400" y="4356100"/>
            <a:ext cx="6858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所有对话附带轻量心理评估（非心理意图也触发），本地关键词快速检测(19高危词+29中危词)+LLM深度评估双级检测，高风险自动写入预警表并通知班主任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318500" y="3810000"/>
            <a:ext cx="7175500" cy="2095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70900" y="3898900"/>
            <a:ext cx="6985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C27A2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207500" y="3898900"/>
            <a:ext cx="6096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B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画像研判+自动转化引擎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470900" y="4356100"/>
            <a:ext cx="6858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双通道入口（对话+文件上传），LLM提取14个画像字段，assess_lead_intention()双项目评分(新加坡/德国)，评分≥50自动录入CRM，实现"研判→转化"全自动闭环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62000" y="6223000"/>
            <a:ext cx="14732000" cy="19685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1" name="Text 29"/>
          <p:cNvSpPr/>
          <p:nvPr/>
        </p:nvSpPr>
        <p:spPr>
          <a:xfrm>
            <a:off x="1016000" y="6350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C27A2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技术成果统计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016000" y="6794500"/>
            <a:ext cx="1651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27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016000" y="7366000"/>
            <a:ext cx="1651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种意图识别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3175000" y="6794500"/>
            <a:ext cx="1651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50+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3175000" y="7366000"/>
            <a:ext cx="1651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API端点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334000" y="6794500"/>
            <a:ext cx="1651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15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334000" y="7366000"/>
            <a:ext cx="1651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张数据库表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493000" y="6794500"/>
            <a:ext cx="1651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100+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493000" y="7366000"/>
            <a:ext cx="1651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测试用例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9652000" y="6794500"/>
            <a:ext cx="1651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9652000" y="7366000"/>
            <a:ext cx="1651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个前端页面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1811000" y="6794500"/>
            <a:ext cx="1651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1811000" y="7366000"/>
            <a:ext cx="1651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类智能报告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5240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gradFill rotWithShape="1" flip="none">
          <a:gsLst>
            <a:gs pos="0">
              <a:srgbClr val="152D48"/>
            </a:gs>
            <a:gs pos="50000">
              <a:srgbClr val="1B3A5C"/>
            </a:gs>
            <a:gs pos="100000">
              <a:srgbClr val="244A70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032000"/>
            <a:ext cx="5080000" cy="152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0000" dirty="0">
                <a:solidFill>
                  <a:srgbClr val="FFFFFF">
                    <a:alpha val="8235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3683000"/>
            <a:ext cx="1016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spc="3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商业价值与未来展望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62000" y="4572000"/>
            <a:ext cx="1270000" cy="0"/>
          </a:xfrm>
          <a:prstGeom prst="straightConnector1">
            <a:avLst/>
          </a:prstGeom>
          <a:noFill/>
          <a:ln w="50800">
            <a:solidFill>
              <a:srgbClr val="C27A2F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762000" y="4826000"/>
            <a:ext cx="762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落地场景、商业价值与后续迭代计划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4064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70196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01 项目背景与痛点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064000" y="0"/>
            <a:ext cx="4064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70196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02 系统架构与技术方案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128000" y="0"/>
            <a:ext cx="4064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70196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03 核心优势与创新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192000" y="0"/>
            <a:ext cx="4064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04 商业价值与未来展望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3271500" y="419100"/>
            <a:ext cx="1905000" cy="0"/>
          </a:xfrm>
          <a:prstGeom prst="straightConnector1">
            <a:avLst/>
          </a:prstGeom>
          <a:noFill/>
          <a:ln w="254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8" name="Text 6"/>
          <p:cNvSpPr/>
          <p:nvPr/>
        </p:nvSpPr>
        <p:spPr>
          <a:xfrm>
            <a:off x="762000" y="6604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1B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落地场景与迭代计划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762000" y="1193800"/>
            <a:ext cx="1016000" cy="0"/>
          </a:xfrm>
          <a:prstGeom prst="straightConnector1">
            <a:avLst/>
          </a:prstGeom>
          <a:noFill/>
          <a:ln w="38100">
            <a:solidFill>
              <a:srgbClr val="C27A2F"/>
            </a:solidFill>
            <a:prstDash val="solid"/>
            <a:headEnd type="none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762000" y="14224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C27A2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已完成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62000" y="1803400"/>
            <a:ext cx="7175500" cy="4127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2500" y="1930400"/>
            <a:ext cx="6794500" cy="393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C27A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pPr>
              <a:lnSpc>
                <a:spcPct val="160000"/>
              </a:lnSpc>
            </a:pPr>
            <a:r>
              <a:rPr lang="en-US" sz="13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15张数据库表(ORM+CRUD+Schema)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C27A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pPr>
              <a:lnSpc>
                <a:spcPct val="160000"/>
              </a:lnSpc>
            </a:pPr>
            <a:r>
              <a:rPr lang="en-US" sz="13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3大Agent共27种意图+50+API端点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C27A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pPr>
              <a:lnSpc>
                <a:spcPct val="160000"/>
              </a:lnSpc>
            </a:pPr>
            <a:r>
              <a:rPr lang="en-US" sz="13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统一对话入口(两级LLM+角色门)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C27A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pPr>
              <a:lnSpc>
                <a:spcPct val="160000"/>
              </a:lnSpc>
            </a:pPr>
            <a:r>
              <a:rPr lang="en-US" sz="13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RAG知识库系统(n-gram自研引擎)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C27A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pPr>
              <a:lnSpc>
                <a:spcPct val="160000"/>
              </a:lnSpc>
            </a:pPr>
            <a:r>
              <a:rPr lang="en-US" sz="13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JWT+bcrypt认证+权限控制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C27A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pPr>
              <a:lnSpc>
                <a:spcPct val="160000"/>
              </a:lnSpc>
            </a:pPr>
            <a:r>
              <a:rPr lang="en-US" sz="13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NL2SQL安全引擎+数据隔离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C27A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pPr>
              <a:lnSpc>
                <a:spcPct val="160000"/>
              </a:lnSpc>
            </a:pPr>
            <a:r>
              <a:rPr lang="en-US" sz="13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心理监测(全消息旁路评估)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C27A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pPr>
              <a:lnSpc>
                <a:spcPct val="160000"/>
              </a:lnSpc>
            </a:pPr>
            <a:r>
              <a:rPr lang="en-US" sz="13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画像研判+自动CRM录入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C27A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pPr>
              <a:lnSpc>
                <a:spcPct val="160000"/>
              </a:lnSpc>
            </a:pPr>
            <a:r>
              <a:rPr lang="en-US" sz="13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智能报告引擎(5类报告)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C27A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pPr>
              <a:lnSpc>
                <a:spcPct val="160000"/>
              </a:lnSpc>
            </a:pPr>
            <a:r>
              <a:rPr lang="en-US" sz="13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定时任务(DDL提醒/周报)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C27A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pPr>
              <a:lnSpc>
                <a:spcPct val="160000"/>
              </a:lnSpc>
            </a:pPr>
            <a:r>
              <a:rPr lang="en-US" sz="13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前端SPA 20页面+聊天浮窗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C27A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pPr>
              <a:lnSpc>
                <a:spcPct val="160000"/>
              </a:lnSpc>
            </a:pPr>
            <a:r>
              <a:rPr lang="en-US" sz="13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测试套件100+用例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318500" y="14224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C27A2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迭代计划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318500" y="1803400"/>
            <a:ext cx="7175500" cy="4127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9000" y="1930400"/>
            <a:ext cx="6794500" cy="393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300" b="1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近期(1-3个月)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心理AI专用模型对接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语音转文字Whisper接入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Docker生产环境部署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300" b="1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中期(3-6个月)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消息推送(企微/短信/邮件)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员工离职处理(CRM交接)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性能优化与压力测试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300" b="1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长期(6-12个月)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多模态扩展(图像/文档理解)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跨平台集成(微信小程序/钉钉)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62000" y="6223000"/>
            <a:ext cx="14732000" cy="20320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7" name="Text 15"/>
          <p:cNvSpPr/>
          <p:nvPr/>
        </p:nvSpPr>
        <p:spPr>
          <a:xfrm>
            <a:off x="1016000" y="63246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C27A2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商业价值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016000" y="6858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44450" y="44450"/>
                </a:moveTo>
                <a:cubicBezTo>
                  <a:pt x="44450" y="32157"/>
                  <a:pt x="34518" y="22225"/>
                  <a:pt x="22225" y="22225"/>
                </a:cubicBezTo>
                <a:cubicBezTo>
                  <a:pt x="9932" y="22225"/>
                  <a:pt x="0" y="32157"/>
                  <a:pt x="0" y="44450"/>
                </a:cubicBezTo>
                <a:lnTo>
                  <a:pt x="0" y="277813"/>
                </a:lnTo>
                <a:cubicBezTo>
                  <a:pt x="0" y="308511"/>
                  <a:pt x="24864" y="333375"/>
                  <a:pt x="55563" y="333375"/>
                </a:cubicBezTo>
                <a:lnTo>
                  <a:pt x="333375" y="333375"/>
                </a:lnTo>
                <a:cubicBezTo>
                  <a:pt x="345668" y="333375"/>
                  <a:pt x="355600" y="323443"/>
                  <a:pt x="355600" y="311150"/>
                </a:cubicBezTo>
                <a:cubicBezTo>
                  <a:pt x="355600" y="298857"/>
                  <a:pt x="345668" y="288925"/>
                  <a:pt x="333375" y="288925"/>
                </a:cubicBezTo>
                <a:lnTo>
                  <a:pt x="55563" y="288925"/>
                </a:lnTo>
                <a:cubicBezTo>
                  <a:pt x="49451" y="288925"/>
                  <a:pt x="44450" y="283924"/>
                  <a:pt x="44450" y="277813"/>
                </a:cubicBezTo>
                <a:lnTo>
                  <a:pt x="44450" y="44450"/>
                </a:lnTo>
                <a:close/>
                <a:moveTo>
                  <a:pt x="326846" y="104596"/>
                </a:moveTo>
                <a:cubicBezTo>
                  <a:pt x="335528" y="95915"/>
                  <a:pt x="335528" y="81816"/>
                  <a:pt x="326846" y="73134"/>
                </a:cubicBezTo>
                <a:cubicBezTo>
                  <a:pt x="318165" y="64453"/>
                  <a:pt x="304066" y="64453"/>
                  <a:pt x="295384" y="73134"/>
                </a:cubicBezTo>
                <a:lnTo>
                  <a:pt x="222250" y="146338"/>
                </a:lnTo>
                <a:lnTo>
                  <a:pt x="182384" y="106541"/>
                </a:lnTo>
                <a:cubicBezTo>
                  <a:pt x="173702" y="97859"/>
                  <a:pt x="159603" y="97859"/>
                  <a:pt x="150922" y="106541"/>
                </a:cubicBezTo>
                <a:lnTo>
                  <a:pt x="84247" y="173216"/>
                </a:lnTo>
                <a:cubicBezTo>
                  <a:pt x="75565" y="181898"/>
                  <a:pt x="75565" y="195997"/>
                  <a:pt x="84247" y="204678"/>
                </a:cubicBezTo>
                <a:cubicBezTo>
                  <a:pt x="92928" y="213360"/>
                  <a:pt x="107027" y="213360"/>
                  <a:pt x="115709" y="204678"/>
                </a:cubicBezTo>
                <a:lnTo>
                  <a:pt x="166688" y="153700"/>
                </a:lnTo>
                <a:lnTo>
                  <a:pt x="206554" y="193566"/>
                </a:lnTo>
                <a:cubicBezTo>
                  <a:pt x="215235" y="202248"/>
                  <a:pt x="229334" y="202248"/>
                  <a:pt x="238016" y="193566"/>
                </a:cubicBezTo>
                <a:lnTo>
                  <a:pt x="326916" y="104666"/>
                </a:lnTo>
                <a:close/>
              </a:path>
            </a:pathLst>
          </a:custGeom>
          <a:solidFill>
            <a:srgbClr val="C27A2F"/>
          </a:solidFill>
          <a:ln/>
        </p:spPr>
      </p:sp>
      <p:sp>
        <p:nvSpPr>
          <p:cNvPr id="19" name="Text 17"/>
          <p:cNvSpPr/>
          <p:nvPr/>
        </p:nvSpPr>
        <p:spPr>
          <a:xfrm>
            <a:off x="1498600" y="67945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降本增效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98600" y="7175500"/>
            <a:ext cx="254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降低人工客服成本60%+，7×24不间断服务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826000" y="6858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cubicBezTo>
                  <a:pt x="180995" y="0"/>
                  <a:pt x="184190" y="695"/>
                  <a:pt x="187107" y="2014"/>
                </a:cubicBezTo>
                <a:lnTo>
                  <a:pt x="317956" y="57507"/>
                </a:lnTo>
                <a:cubicBezTo>
                  <a:pt x="333236" y="63966"/>
                  <a:pt x="344626" y="79038"/>
                  <a:pt x="344557" y="97234"/>
                </a:cubicBezTo>
                <a:cubicBezTo>
                  <a:pt x="344210" y="166132"/>
                  <a:pt x="315873" y="292189"/>
                  <a:pt x="196205" y="349488"/>
                </a:cubicBezTo>
                <a:cubicBezTo>
                  <a:pt x="184606" y="355044"/>
                  <a:pt x="171133" y="355044"/>
                  <a:pt x="159534" y="349488"/>
                </a:cubicBezTo>
                <a:cubicBezTo>
                  <a:pt x="39797" y="292189"/>
                  <a:pt x="11529" y="166132"/>
                  <a:pt x="11182" y="97234"/>
                </a:cubicBezTo>
                <a:cubicBezTo>
                  <a:pt x="11112" y="79038"/>
                  <a:pt x="22503" y="63966"/>
                  <a:pt x="37782" y="57507"/>
                </a:cubicBezTo>
                <a:lnTo>
                  <a:pt x="168563" y="2014"/>
                </a:lnTo>
                <a:cubicBezTo>
                  <a:pt x="171480" y="695"/>
                  <a:pt x="174605" y="0"/>
                  <a:pt x="177800" y="0"/>
                </a:cubicBezTo>
                <a:close/>
                <a:moveTo>
                  <a:pt x="177800" y="46395"/>
                </a:moveTo>
                <a:lnTo>
                  <a:pt x="177800" y="308997"/>
                </a:lnTo>
                <a:cubicBezTo>
                  <a:pt x="273645" y="262602"/>
                  <a:pt x="299412" y="159812"/>
                  <a:pt x="300038" y="98276"/>
                </a:cubicBezTo>
                <a:lnTo>
                  <a:pt x="177800" y="46464"/>
                </a:lnTo>
                <a:lnTo>
                  <a:pt x="177800" y="46464"/>
                </a:lnTo>
                <a:close/>
              </a:path>
            </a:pathLst>
          </a:custGeom>
          <a:solidFill>
            <a:srgbClr val="C27A2F"/>
          </a:solidFill>
          <a:ln/>
        </p:spPr>
      </p:sp>
      <p:sp>
        <p:nvSpPr>
          <p:cNvPr id="22" name="Text 20"/>
          <p:cNvSpPr/>
          <p:nvPr/>
        </p:nvSpPr>
        <p:spPr>
          <a:xfrm>
            <a:off x="5308600" y="67945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风险防控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308600" y="7175500"/>
            <a:ext cx="254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学生心理风险实时监测，自动预警通知班主任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636000" y="6858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311150" y="177800"/>
                </a:moveTo>
                <a:cubicBezTo>
                  <a:pt x="311150" y="104202"/>
                  <a:pt x="251398" y="44450"/>
                  <a:pt x="177800" y="44450"/>
                </a:cubicBezTo>
                <a:cubicBezTo>
                  <a:pt x="104202" y="44450"/>
                  <a:pt x="44450" y="104202"/>
                  <a:pt x="44450" y="177800"/>
                </a:cubicBezTo>
                <a:cubicBezTo>
                  <a:pt x="44450" y="251398"/>
                  <a:pt x="104202" y="311150"/>
                  <a:pt x="177800" y="311150"/>
                </a:cubicBezTo>
                <a:cubicBezTo>
                  <a:pt x="251398" y="311150"/>
                  <a:pt x="311150" y="251398"/>
                  <a:pt x="311150" y="177800"/>
                </a:cubicBezTo>
                <a:close/>
                <a:moveTo>
                  <a:pt x="0" y="177800"/>
                </a:moveTo>
                <a:cubicBezTo>
                  <a:pt x="0" y="79670"/>
                  <a:pt x="79670" y="0"/>
                  <a:pt x="177800" y="0"/>
                </a:cubicBezTo>
                <a:cubicBezTo>
                  <a:pt x="275930" y="0"/>
                  <a:pt x="355600" y="79670"/>
                  <a:pt x="355600" y="177800"/>
                </a:cubicBezTo>
                <a:cubicBezTo>
                  <a:pt x="355600" y="275930"/>
                  <a:pt x="275930" y="355600"/>
                  <a:pt x="177800" y="355600"/>
                </a:cubicBezTo>
                <a:cubicBezTo>
                  <a:pt x="79670" y="355600"/>
                  <a:pt x="0" y="275930"/>
                  <a:pt x="0" y="177800"/>
                </a:cubicBezTo>
                <a:close/>
                <a:moveTo>
                  <a:pt x="177800" y="233363"/>
                </a:moveTo>
                <a:cubicBezTo>
                  <a:pt x="208466" y="233363"/>
                  <a:pt x="233363" y="208466"/>
                  <a:pt x="233363" y="177800"/>
                </a:cubicBezTo>
                <a:cubicBezTo>
                  <a:pt x="233363" y="147134"/>
                  <a:pt x="208466" y="122238"/>
                  <a:pt x="177800" y="122238"/>
                </a:cubicBezTo>
                <a:cubicBezTo>
                  <a:pt x="147134" y="122238"/>
                  <a:pt x="122238" y="147134"/>
                  <a:pt x="122238" y="177800"/>
                </a:cubicBezTo>
                <a:cubicBezTo>
                  <a:pt x="122238" y="208466"/>
                  <a:pt x="147134" y="233363"/>
                  <a:pt x="177800" y="233363"/>
                </a:cubicBezTo>
                <a:close/>
                <a:moveTo>
                  <a:pt x="177800" y="77788"/>
                </a:moveTo>
                <a:cubicBezTo>
                  <a:pt x="232998" y="77788"/>
                  <a:pt x="277813" y="122602"/>
                  <a:pt x="277813" y="177800"/>
                </a:cubicBezTo>
                <a:cubicBezTo>
                  <a:pt x="277813" y="232998"/>
                  <a:pt x="232998" y="277813"/>
                  <a:pt x="177800" y="277813"/>
                </a:cubicBezTo>
                <a:cubicBezTo>
                  <a:pt x="122602" y="277813"/>
                  <a:pt x="77788" y="232998"/>
                  <a:pt x="77788" y="177800"/>
                </a:cubicBezTo>
                <a:cubicBezTo>
                  <a:pt x="77788" y="122602"/>
                  <a:pt x="122602" y="77788"/>
                  <a:pt x="177800" y="77788"/>
                </a:cubicBezTo>
                <a:close/>
                <a:moveTo>
                  <a:pt x="155575" y="177800"/>
                </a:moveTo>
                <a:cubicBezTo>
                  <a:pt x="155575" y="165534"/>
                  <a:pt x="165534" y="155575"/>
                  <a:pt x="177800" y="155575"/>
                </a:cubicBezTo>
                <a:cubicBezTo>
                  <a:pt x="190066" y="155575"/>
                  <a:pt x="200025" y="165534"/>
                  <a:pt x="200025" y="177800"/>
                </a:cubicBezTo>
                <a:cubicBezTo>
                  <a:pt x="200025" y="190066"/>
                  <a:pt x="190066" y="200025"/>
                  <a:pt x="177800" y="200025"/>
                </a:cubicBezTo>
                <a:cubicBezTo>
                  <a:pt x="165534" y="200025"/>
                  <a:pt x="155575" y="190066"/>
                  <a:pt x="155575" y="177800"/>
                </a:cubicBezTo>
                <a:close/>
              </a:path>
            </a:pathLst>
          </a:custGeom>
          <a:solidFill>
            <a:srgbClr val="C27A2F"/>
          </a:solidFill>
          <a:ln/>
        </p:spPr>
      </p:sp>
      <p:sp>
        <p:nvSpPr>
          <p:cNvPr id="25" name="Text 23"/>
          <p:cNvSpPr/>
          <p:nvPr/>
        </p:nvSpPr>
        <p:spPr>
          <a:xfrm>
            <a:off x="9118600" y="67945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精准转化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118600" y="7175500"/>
            <a:ext cx="254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AI画像研判自动识别意向客户并录入CRM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2468225" y="68580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311150" y="142935"/>
                </a:moveTo>
                <a:cubicBezTo>
                  <a:pt x="300871" y="149741"/>
                  <a:pt x="289064" y="155228"/>
                  <a:pt x="276771" y="159603"/>
                </a:cubicBezTo>
                <a:cubicBezTo>
                  <a:pt x="244128" y="171271"/>
                  <a:pt x="201275" y="177800"/>
                  <a:pt x="155575" y="177800"/>
                </a:cubicBezTo>
                <a:cubicBezTo>
                  <a:pt x="109875" y="177800"/>
                  <a:pt x="66953" y="171202"/>
                  <a:pt x="34379" y="159603"/>
                </a:cubicBezTo>
                <a:cubicBezTo>
                  <a:pt x="22156" y="155228"/>
                  <a:pt x="10279" y="149741"/>
                  <a:pt x="0" y="142935"/>
                </a:cubicBezTo>
                <a:lnTo>
                  <a:pt x="0" y="200025"/>
                </a:lnTo>
                <a:cubicBezTo>
                  <a:pt x="0" y="230723"/>
                  <a:pt x="69661" y="255587"/>
                  <a:pt x="155575" y="255587"/>
                </a:cubicBezTo>
                <a:cubicBezTo>
                  <a:pt x="241489" y="255587"/>
                  <a:pt x="311150" y="230723"/>
                  <a:pt x="311150" y="200025"/>
                </a:cubicBezTo>
                <a:lnTo>
                  <a:pt x="311150" y="142935"/>
                </a:lnTo>
                <a:close/>
                <a:moveTo>
                  <a:pt x="311150" y="88900"/>
                </a:moveTo>
                <a:lnTo>
                  <a:pt x="311150" y="55563"/>
                </a:lnTo>
                <a:cubicBezTo>
                  <a:pt x="311150" y="24864"/>
                  <a:pt x="241489" y="0"/>
                  <a:pt x="155575" y="0"/>
                </a:cubicBezTo>
                <a:cubicBezTo>
                  <a:pt x="69661" y="0"/>
                  <a:pt x="0" y="24864"/>
                  <a:pt x="0" y="55563"/>
                </a:cubicBezTo>
                <a:lnTo>
                  <a:pt x="0" y="88900"/>
                </a:lnTo>
                <a:cubicBezTo>
                  <a:pt x="0" y="119598"/>
                  <a:pt x="69661" y="144463"/>
                  <a:pt x="155575" y="144463"/>
                </a:cubicBezTo>
                <a:cubicBezTo>
                  <a:pt x="241489" y="144463"/>
                  <a:pt x="311150" y="119598"/>
                  <a:pt x="311150" y="88900"/>
                </a:cubicBezTo>
                <a:close/>
                <a:moveTo>
                  <a:pt x="276771" y="270728"/>
                </a:moveTo>
                <a:cubicBezTo>
                  <a:pt x="244197" y="282327"/>
                  <a:pt x="201345" y="288925"/>
                  <a:pt x="155575" y="288925"/>
                </a:cubicBezTo>
                <a:cubicBezTo>
                  <a:pt x="109805" y="288925"/>
                  <a:pt x="66953" y="282327"/>
                  <a:pt x="34379" y="270728"/>
                </a:cubicBezTo>
                <a:cubicBezTo>
                  <a:pt x="22156" y="266353"/>
                  <a:pt x="10279" y="260866"/>
                  <a:pt x="0" y="254060"/>
                </a:cubicBezTo>
                <a:lnTo>
                  <a:pt x="0" y="300038"/>
                </a:lnTo>
                <a:cubicBezTo>
                  <a:pt x="0" y="330736"/>
                  <a:pt x="69661" y="355600"/>
                  <a:pt x="155575" y="355600"/>
                </a:cubicBezTo>
                <a:cubicBezTo>
                  <a:pt x="241489" y="355600"/>
                  <a:pt x="311150" y="330736"/>
                  <a:pt x="311150" y="300038"/>
                </a:cubicBezTo>
                <a:lnTo>
                  <a:pt x="311150" y="254060"/>
                </a:lnTo>
                <a:cubicBezTo>
                  <a:pt x="300871" y="260866"/>
                  <a:pt x="289064" y="266353"/>
                  <a:pt x="276771" y="270728"/>
                </a:cubicBezTo>
                <a:close/>
              </a:path>
            </a:pathLst>
          </a:custGeom>
          <a:solidFill>
            <a:srgbClr val="C27A2F"/>
          </a:solidFill>
          <a:ln/>
        </p:spPr>
      </p:sp>
      <p:sp>
        <p:nvSpPr>
          <p:cNvPr id="28" name="Text 26"/>
          <p:cNvSpPr/>
          <p:nvPr/>
        </p:nvSpPr>
        <p:spPr>
          <a:xfrm>
            <a:off x="12928600" y="67945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数据沉淀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2928600" y="7175500"/>
            <a:ext cx="254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NL2SQL降低数据查询门槛，业务数据自助获取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5240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gradFill rotWithShape="1" flip="none">
          <a:gsLst>
            <a:gs pos="0">
              <a:srgbClr val="152D48"/>
            </a:gs>
            <a:gs pos="50000">
              <a:srgbClr val="1B3A5C"/>
            </a:gs>
            <a:gs pos="100000">
              <a:srgbClr val="244A70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2794000"/>
            <a:ext cx="2540000" cy="0"/>
          </a:xfrm>
          <a:prstGeom prst="straightConnector1">
            <a:avLst/>
          </a:prstGeom>
          <a:noFill/>
          <a:ln w="25400">
            <a:solidFill>
              <a:srgbClr val="C27A2F"/>
            </a:solidFill>
            <a:prstDash val="solid"/>
            <a:headEnd type="none"/>
            <a:tailEnd type="none"/>
          </a:ln>
        </p:spPr>
      </p:sp>
      <p:sp>
        <p:nvSpPr>
          <p:cNvPr id="3" name="Text 1"/>
          <p:cNvSpPr/>
          <p:nvPr/>
        </p:nvSpPr>
        <p:spPr>
          <a:xfrm>
            <a:off x="3048000" y="3048000"/>
            <a:ext cx="1016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800" spc="6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感谢聆听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318000" y="4064000"/>
            <a:ext cx="762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FFFFFF">
                    <a:alpha val="7333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欢迎各位老师提问与指导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0" y="4762500"/>
            <a:ext cx="2540000" cy="0"/>
          </a:xfrm>
          <a:prstGeom prst="straightConnector1">
            <a:avLst/>
          </a:prstGeom>
          <a:noFill/>
          <a:ln w="25400">
            <a:solidFill>
              <a:srgbClr val="C27A2F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4318000" y="6350000"/>
            <a:ext cx="762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80000"/>
              </a:lnSpc>
            </a:pPr>
            <a:r>
              <a:rPr lang="en-US" sz="1600" dirty="0">
                <a:solidFill>
                  <a:srgbClr val="FFFFFF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粤教服务 AI Agent 系统</a:t>
            </a:r>
            <a:endParaRPr lang="en-US" sz="1600" dirty="0"/>
          </a:p>
          <a:p>
            <a:pPr algn="ctr">
              <a:lnSpc>
                <a:spcPct val="180000"/>
              </a:lnSpc>
            </a:pPr>
            <a:r>
              <a:rPr lang="en-US" sz="1600" dirty="0">
                <a:solidFill>
                  <a:srgbClr val="FFFFFF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帅帅宇宙大王组 · 刘帅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粤教服务 AI Agent 系统 - 毕业答辩</dc:title>
  <dc:subject>粤教服务 AI Agent 系统 - 毕业答辩</dc:subject>
  <dc:creator>Kimi</dc:creator>
  <cp:lastModifiedBy>Kimi</cp:lastModifiedBy>
  <cp:revision>1</cp:revision>
  <dcterms:created xsi:type="dcterms:W3CDTF">2026-05-17T16:35:16Z</dcterms:created>
  <dcterms:modified xsi:type="dcterms:W3CDTF">2026-05-17T16:35:16Z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{"Label":"粤教服务 AI Agent 系统 - 毕业答辩","ContentProducer":"001191110108MACG2KBH8F10000","ProduceID":"19e36882-ba72-87ea-8000-0000fe130266","ReservedCode1":"","ContentPropagator":"001191110108MACG2KBH8F20000","PropagateID":"19e36882-ba72-87ea-8000-0000fe130266","ReservedCode2":""}</vt:lpwstr>
  </property>
</Properties>
</file>